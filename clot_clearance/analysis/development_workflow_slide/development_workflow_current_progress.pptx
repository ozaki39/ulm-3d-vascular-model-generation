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Development Workflow and Current Progress</a:t>
            </a:r>
          </a:p>
          <a:p/>
          <a:p>
            <a:r>
              <a:t>## Objective</a:t>
            </a:r>
          </a:p>
          <a:p/>
          <a:p>
            <a:r>
              <a:t>The core mechanics and solver framework are established. The current bottleneck is finite-domain BAQP boundary consistency, which must be resolved before physical clot-wall failure can be interpreted.</a:t>
            </a:r>
          </a:p>
          <a:p/>
          <a:p>
            <a:r>
              <a:t>One editable 16:9 slide, based only on archived repository evidence. No new mechanical solve, activation search, stability calculation or parameter sweep was run.</a:t>
            </a:r>
          </a:p>
          <a:p/>
          <a:p>
            <a:r>
              <a:t>## Source files</a:t>
            </a:r>
          </a:p>
          <a:p/>
          <a:p>
            <a:r>
              <a:t>- `../PROJECT_ACTIVE_CONTEXT.md`</a:t>
            </a:r>
          </a:p>
          <a:p>
            <a:r>
              <a:t>- `results/pfpd_baqp_finite_domain_boundary_consistency_v1/figures/affine_internal_force_layers.png`</a:t>
            </a:r>
          </a:p>
          <a:p>
            <a:r>
              <a:t>- `results/pfpd_baqp_finite_domain_boundary_consistency_v1/figures/first_layer_force_decomposition.png`</a:t>
            </a:r>
          </a:p>
          <a:p>
            <a:r>
              <a:t>- `results/pfpd_baqp_finite_domain_boundary_consistency_v1/figures/large_domain_affine_patch_test.png`</a:t>
            </a:r>
          </a:p>
          <a:p>
            <a:r>
              <a:t>- `results/pfpd_baqp_finite_domain_boundary_consistency_v1/tables/C5_layers.csv`</a:t>
            </a:r>
          </a:p>
          <a:p>
            <a:r>
              <a:t>- `results/pfpd_baqp_finite_domain_boundary_consistency_v1/tables/C7_layers.csv`</a:t>
            </a:r>
          </a:p>
          <a:p>
            <a:r>
              <a:t>- `results/pfpd_baqp_finite_domain_boundary_consistency_v1/tables/L075_particles.csv`</a:t>
            </a:r>
          </a:p>
          <a:p>
            <a:r>
              <a:t>- `verification/pfpd_at1_c5_stability_v1/REVIEW_C5_STABILITY_V1.md`</a:t>
            </a:r>
          </a:p>
          <a:p>
            <a:r>
              <a:t>- `verification/pfpd_at1_c7_early_branch_v1/REVIEW_C7_EARLY_BRANCH_V1.md`</a:t>
            </a:r>
          </a:p>
          <a:p>
            <a:r>
              <a:t>- `verification/pfpd_at1_petsc_vi_solver_v1/REVIEW_PETSC_VI_SOLVER_V1.md`</a:t>
            </a:r>
          </a:p>
          <a:p>
            <a:r>
              <a:t>- `verification/pfpd_baqp_finite_domain_boundary_consistency_v1/BOUNDARY_THEORY_NOTES.md`</a:t>
            </a:r>
          </a:p>
          <a:p>
            <a:r>
              <a:t>- `verification/pfpd_baqp_finite_domain_boundary_consistency_v1/C5/SUMMARY.json`</a:t>
            </a:r>
          </a:p>
          <a:p>
            <a:r>
              <a:t>- `verification/pfpd_baqp_finite_domain_boundary_consistency_v1/C7/SUMMARY.json`</a:t>
            </a:r>
          </a:p>
          <a:p>
            <a:r>
              <a:t>- `verification/pfpd_baqp_finite_domain_boundary_consistency_v1/L075/SUMMARY.json`</a:t>
            </a:r>
          </a:p>
          <a:p>
            <a:r>
              <a:t>- `verification/pfpd_baqp_finite_domain_boundary_consistency_v1/REVIEW_BAQP_FINITE_DOMAIN_BOUNDARY_CONSISTENCY_V1.md`</a:t>
            </a:r>
          </a:p>
          <a:p>
            <a:r>
              <a:t>- `verification/pfpd_baqp_finite_domain_boundary_consistency_v1/SUMMARY.json`</a:t>
            </a:r>
          </a:p>
          <a:p>
            <a:r>
              <a:t>- `verification/pfpd_baqp_finite_domain_boundary_consistency_v1/author_L075/COMPARISON.json`</a:t>
            </a:r>
          </a:p>
          <a:p/>
          <a:p>
            <a:r>
              <a:t>## Quantitative statements shown</a:t>
            </a:r>
          </a:p>
          <a:p/>
          <a:p>
            <a:r>
              <a:t>- Author implementation all-force relative difference: 5.861129936374264e-15; shown as 5.9 × 10⁻¹⁵.</a:t>
            </a:r>
          </a:p>
          <a:p>
            <a:r>
              <a:t>- L075 denotes L=0.75 mm: 27 self-family-complete points; 0 fully three-hop-closed points (also 0 two-hop-closed points).</a:t>
            </a:r>
          </a:p>
          <a:p>
            <a:r>
              <a:t>- 3δ is the conservative geometric coefficient-dependency bound derived in the latest theory notes. It is a proposed isolation-test design, not an observed optimal physical boundary thickness.</a:t>
            </a:r>
          </a:p>
          <a:p>
            <a:r>
              <a:t>- The three plots reproduce actual CSV/JSON coordinates and contributions. Their tick values are axis scales, not additional claimed experimental findings.</a:t>
            </a:r>
          </a:p>
          <a:p/>
          <a:p>
            <a:r>
              <a:t>## Stage interpretation</a:t>
            </a:r>
          </a:p>
          <a:p/>
          <a:p>
            <a:r>
              <a:t>### 1. Theory &amp; Discretization Audit — COMPLETED</a:t>
            </a:r>
          </a:p>
          <a:p/>
          <a:p>
            <a:r>
              <a:t>Nodal quadrature; Kernel / weights; Horizon handling; Nonlocal kinematics defined.</a:t>
            </a:r>
          </a:p>
          <a:p/>
          <a:p>
            <a:r>
              <a:t>### 2. BAQP Mechanics: Affine, Energy &amp; First Variation — COMPLETED</a:t>
            </a:r>
          </a:p>
          <a:p/>
          <a:p>
            <a:r>
              <a:t>Affine kinematics; Energy + first variation; Spectral mechanics; Finite-domain equilibrium unresolved.</a:t>
            </a:r>
          </a:p>
          <a:p/>
          <a:p>
            <a:r>
              <a:t>### 3. Independent Cross-Check: RKCMaterial / Peridynamics.jl — COMPLETED</a:t>
            </a:r>
          </a:p>
          <a:p/>
          <a:p>
            <a:r>
              <a:t>Local / author match; No clear porting error; Fixed author implementation.</a:t>
            </a:r>
          </a:p>
          <a:p/>
          <a:p>
            <a:r>
              <a:t>### 4. Finite-Domain Nonlocal Boundary Consistency — CURRENT</a:t>
            </a:r>
          </a:p>
          <a:p/>
          <a:p>
            <a:r>
              <a:t>Affine ≠ equilibrium; Z / neighbor-Z channels; Cause: INCONCLUSIVE; Boundary influence is a leading hypothesis.</a:t>
            </a:r>
          </a:p>
          <a:p/>
          <a:p>
            <a:r>
              <a:t>### 5. Fully Closed 3δ Force-Stencil Patch Test — NEXT</a:t>
            </a:r>
          </a:p>
          <a:p/>
          <a:p>
            <a:r>
              <a:t>Isolate central region; Close force dependencies; Separate boundary vs. bulk; Conservative support bound; test not run.</a:t>
            </a:r>
          </a:p>
          <a:p/>
          <a:p>
            <a:r>
              <a:t>### 6. Physical Clot Simulation — FUTURE</a:t>
            </a:r>
          </a:p>
          <a:p/>
          <a:p>
            <a:r>
              <a:t>Adhesion / detachment; Damage / rupture; Flow / microbubble load; Not quantitatively validated.</a:t>
            </a:r>
          </a:p>
          <a:p/>
          <a:p>
            <a:r>
              <a:t>## Interpretation limits</a:t>
            </a:r>
          </a:p>
          <a:p/>
          <a:p>
            <a:r>
              <a:t>- Root cause remains formally INCONCLUSIVE. Boundary influence is a leading unresolved mechanism.</a:t>
            </a:r>
          </a:p>
          <a:p>
            <a:r>
              <a:t>- No claim of a confirmed boundary artifact, wrong BAQP operator or incorrect surface BC is made.</a:t>
            </a:r>
          </a:p>
          <a:p>
            <a:r>
              <a:t>- Geometric full family does not imply a closed force-dependency stencil.</a:t>
            </a:r>
          </a:p>
          <a:p>
            <a:r>
              <a:t>- Agreement with the author code and energy gradient is an implementation check, not proof of physical traction correctness.</a:t>
            </a:r>
          </a:p>
          <a:p>
            <a:r>
              <a:t>- C5 audited stable positive-phase states and C7 stationary states are different evidence; C7 stability is unassessed.</a:t>
            </a:r>
          </a:p>
          <a:p>
            <a:r>
              <a:t>- Activation is not a crack prediction; stationarity is not stability.</a:t>
            </a:r>
          </a:p>
          <a:p>
            <a:r>
              <a:t>- The clot drawing is a geometric schematic only: wall, attached mass, near-wall region and flow direction. No simulated contours, cracks or validated clot-wall failure are depicted.</a:t>
            </a:r>
          </a:p>
          <a:p>
            <a:r>
              <a:t>- 3δ test is NEXT, not already run. Physical clot adhesion, detachment, rupture and loading calibration are FUTURE.</a:t>
            </a:r>
          </a:p>
          <a:p/>
          <a:p>
            <a:r>
              <a:t>## Insets and editability</a:t>
            </a:r>
          </a:p>
          <a:p/>
          <a:p>
            <a:r>
              <a:t>The same saved result panels are re-typeset from their original data, rather than cropping small raster labels that would be unreadable in projection. No interpolation, smoothing or fabricated trend is introduced. Workflow boxes, arrows, status icons, all narrative text, the progress indicator and the clot schematic are native editable PowerPoint objects; only the three real-data insets are images. PDF/SVG/PNG inset originals are included in assets/.</a:t>
            </a:r>
          </a:p>
          <a:p/>
          <a:p>
            <a:r>
              <a:t>## Steering and reproduction</a:t>
            </a:r>
          </a:p>
          <a:p/>
          <a:p>
            <a:r>
              <a:t>Edit `slide_config.py` (central `SLIDE_CONFIG`), then run:</a:t>
            </a:r>
          </a:p>
          <a:p/>
          <a:p>
            <a:r>
              <a:t>```bash</a:t>
            </a:r>
          </a:p>
          <a:p>
            <a:r>
              <a:t>OPENBLAS_NUM_THREADS=1 OMP_NUM_THREADS=1 python generate_slide.py</a:t>
            </a:r>
          </a:p>
          <a:p>
            <a:r>
              <a:t>```</a:t>
            </a:r>
          </a:p>
          <a:p/>
          <a:p>
            <a:r>
              <a:t>Controls include title, subtitle, current stage, stage labels/status/body, colors, density, inset selection (up to three), numeric callouts, schematic visibility and bottom messages. The default uses DejaVu Sans, the installed sans-serif font, to keep the editable slide and rendered preview consistent. Low density uses shorter body statements; high density uses more technical body statements. Both wordings are defined centrally in `stage_bodies_by_density`.</a:t>
            </a:r>
          </a:p>
          <a:p/>
          <a:p>
            <a:r>
              <a:t>The PNG is rendered from the actual PowerPoint via LibreOffice → PDF → PyMuPDF, not a separately reconstructed drawing. The temporary local LibreOffice runtime does not modify the system installation or scientific environment. If LibreOffice is available on PATH it is preferred; otherwise the current task runtime is used.</a:t>
            </a:r>
          </a:p>
          <a:p/>
          <a:p>
            <a:r>
              <a:t>The earlier 10-figure inventory and plan under `analysis/paper_figures/` were superseded by the user's one-slide steering before their figure generation. They remain as preparation, not as an additional claimed deliverable.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itable text: Development Workflow and Current Progress: From Nonlocal Operator Audi"/>
          <p:cNvSpPr txBox="1"/>
          <p:nvPr/>
        </p:nvSpPr>
        <p:spPr>
          <a:xfrm>
            <a:off x="393192" y="210312"/>
            <a:ext cx="13807440" cy="941832"/>
          </a:xfrm>
          <a:prstGeom prst="rect">
            <a:avLst/>
          </a:prstGeom>
          <a:noFill/>
        </p:spPr>
        <p:txBody>
          <a:bodyPr wrap="none" lIns="0" rIns="0" tIns="0" bIns="0" anchor="t">
            <a:noAutofit/>
          </a:bodyPr>
          <a:lstStyle/>
          <a:p>
            <a:pPr algn="l">
              <a:lnSpc>
                <a:spcPts val="3276"/>
              </a:lnSpc>
              <a:spcBef>
                <a:spcPts val="0"/>
              </a:spcBef>
              <a:spcAft>
                <a:spcPts val="0"/>
              </a:spcAft>
              <a:defRPr sz="2900" b="1">
                <a:solidFill>
                  <a:srgbClr val="203645"/>
                </a:solidFill>
                <a:latin typeface="DejaVu Sans"/>
              </a:defRPr>
            </a:pPr>
            <a:r>
              <a:t>Development Workflow and Current Progress:</a:t>
            </a:r>
          </a:p>
          <a:p>
            <a:pPr algn="l">
              <a:lnSpc>
                <a:spcPts val="3276"/>
              </a:lnSpc>
              <a:spcBef>
                <a:spcPts val="0"/>
              </a:spcBef>
              <a:spcAft>
                <a:spcPts val="0"/>
              </a:spcAft>
              <a:defRPr sz="2900" b="1">
                <a:solidFill>
                  <a:srgbClr val="203645"/>
                </a:solidFill>
                <a:latin typeface="DejaVu Sans"/>
              </a:defRPr>
            </a:pPr>
            <a:r>
              <a:t>From Nonlocal Operator Audit to Clot Simulation</a:t>
            </a:r>
          </a:p>
        </p:txBody>
      </p:sp>
      <p:sp>
        <p:nvSpPr>
          <p:cNvPr id="3" name="Editable text: Establishing mechanically consistent nonlocal boundaries before quanti"/>
          <p:cNvSpPr txBox="1"/>
          <p:nvPr/>
        </p:nvSpPr>
        <p:spPr>
          <a:xfrm>
            <a:off x="411480" y="1179576"/>
            <a:ext cx="13807440" cy="320040"/>
          </a:xfrm>
          <a:prstGeom prst="rect">
            <a:avLst/>
          </a:prstGeom>
          <a:noFill/>
        </p:spPr>
        <p:txBody>
          <a:bodyPr wrap="none" lIns="0" rIns="0" tIns="0" bIns="0" anchor="t">
            <a:noAutofit/>
          </a:bodyPr>
          <a:lstStyle/>
          <a:p>
            <a:pPr algn="l">
              <a:lnSpc>
                <a:spcPts val="1695"/>
              </a:lnSpc>
              <a:spcBef>
                <a:spcPts val="0"/>
              </a:spcBef>
              <a:spcAft>
                <a:spcPts val="0"/>
              </a:spcAft>
              <a:defRPr sz="1500" b="0">
                <a:solidFill>
                  <a:srgbClr val="526879"/>
                </a:solidFill>
                <a:latin typeface="DejaVu Sans"/>
              </a:defRPr>
            </a:pPr>
            <a:r>
              <a:t>Establishing mechanically consistent nonlocal boundaries before quantitative thrombus failure prediction</a:t>
            </a:r>
          </a:p>
        </p:txBody>
      </p:sp>
      <p:cxnSp>
        <p:nvCxnSpPr>
          <p:cNvPr id="4" name="Connector 3"/>
          <p:cNvCxnSpPr/>
          <p:nvPr/>
        </p:nvCxnSpPr>
        <p:spPr>
          <a:xfrm>
            <a:off x="411480" y="1572768"/>
            <a:ext cx="13807440" cy="0"/>
          </a:xfrm>
          <a:prstGeom prst="line">
            <a:avLst/>
          </a:prstGeom>
          <a:ln w="8890">
            <a:solidFill>
              <a:srgbClr val="D4DDE4"/>
            </a:solidFill>
          </a:ln>
          <a:effectLst/>
        </p:spPr>
        <p:style>
          <a:lnRef idx="2">
            <a:schemeClr val="accent1"/>
          </a:lnRef>
          <a:fillRef idx="0">
            <a:schemeClr val="accent1"/>
          </a:fillRef>
          <a:effectRef idx="0">
            <a:schemeClr val="accent1"/>
          </a:effectRef>
          <a:fontRef idx="minor">
            <a:schemeClr val="tx1"/>
          </a:fontRef>
        </p:style>
      </p:cxnSp>
      <p:sp>
        <p:nvSpPr>
          <p:cNvPr id="5" name="Stage 1: COMPLETED"/>
          <p:cNvSpPr/>
          <p:nvPr/>
        </p:nvSpPr>
        <p:spPr>
          <a:xfrm>
            <a:off x="365760" y="1737360"/>
            <a:ext cx="1783080" cy="2404872"/>
          </a:xfrm>
          <a:prstGeom prst="rect">
            <a:avLst/>
          </a:prstGeom>
          <a:solidFill>
            <a:srgbClr val="F0F6FA"/>
          </a:solidFill>
          <a:ln w="8255">
            <a:solidFill>
              <a:srgbClr val="0072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Stage 1 status rail"/>
          <p:cNvSpPr/>
          <p:nvPr/>
        </p:nvSpPr>
        <p:spPr>
          <a:xfrm>
            <a:off x="365760" y="1737360"/>
            <a:ext cx="1783080" cy="502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tage 1 editable status icon"/>
          <p:cNvSpPr/>
          <p:nvPr/>
        </p:nvSpPr>
        <p:spPr>
          <a:xfrm>
            <a:off x="475488" y="1874519"/>
            <a:ext cx="210312" cy="210312"/>
          </a:xfrm>
          <a:prstGeom prst="ellipse">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Editable text: ✓"/>
          <p:cNvSpPr txBox="1"/>
          <p:nvPr/>
        </p:nvSpPr>
        <p:spPr>
          <a:xfrm>
            <a:off x="475488" y="1871776"/>
            <a:ext cx="210312" cy="237744"/>
          </a:xfrm>
          <a:prstGeom prst="rect">
            <a:avLst/>
          </a:prstGeom>
          <a:noFill/>
        </p:spPr>
        <p:txBody>
          <a:bodyPr wrap="none" lIns="0" rIns="0" tIns="0" bIns="0" anchor="t">
            <a:noAutofit/>
          </a:bodyPr>
          <a:lstStyle/>
          <a:p>
            <a:pPr algn="ctr">
              <a:lnSpc>
                <a:spcPts val="1243"/>
              </a:lnSpc>
              <a:spcBef>
                <a:spcPts val="0"/>
              </a:spcBef>
              <a:spcAft>
                <a:spcPts val="0"/>
              </a:spcAft>
              <a:defRPr sz="1100" b="1">
                <a:solidFill>
                  <a:srgbClr val="FFFFFF"/>
                </a:solidFill>
                <a:latin typeface="DejaVu Sans"/>
              </a:defRPr>
            </a:pPr>
            <a:r>
              <a:t>✓</a:t>
            </a:r>
          </a:p>
        </p:txBody>
      </p:sp>
      <p:sp>
        <p:nvSpPr>
          <p:cNvPr id="9" name="Editable text: 1  COMPLETED"/>
          <p:cNvSpPr txBox="1"/>
          <p:nvPr/>
        </p:nvSpPr>
        <p:spPr>
          <a:xfrm>
            <a:off x="758952" y="1892807"/>
            <a:ext cx="1335024" cy="219456"/>
          </a:xfrm>
          <a:prstGeom prst="rect">
            <a:avLst/>
          </a:prstGeom>
          <a:noFill/>
        </p:spPr>
        <p:txBody>
          <a:bodyPr wrap="none" lIns="0" rIns="0" tIns="0" bIns="0" anchor="t">
            <a:noAutofit/>
          </a:bodyPr>
          <a:lstStyle/>
          <a:p>
            <a:pPr algn="l">
              <a:lnSpc>
                <a:spcPts val="1243"/>
              </a:lnSpc>
              <a:spcBef>
                <a:spcPts val="0"/>
              </a:spcBef>
              <a:spcAft>
                <a:spcPts val="0"/>
              </a:spcAft>
              <a:defRPr sz="1100" b="1">
                <a:solidFill>
                  <a:srgbClr val="0072B2"/>
                </a:solidFill>
                <a:latin typeface="DejaVu Sans"/>
              </a:defRPr>
            </a:pPr>
            <a:r>
              <a:t>1 COMPLETED</a:t>
            </a:r>
          </a:p>
        </p:txBody>
      </p:sp>
      <p:sp>
        <p:nvSpPr>
          <p:cNvPr id="10" name="Editable text: Theory &amp; Discretization Audit"/>
          <p:cNvSpPr txBox="1"/>
          <p:nvPr/>
        </p:nvSpPr>
        <p:spPr>
          <a:xfrm>
            <a:off x="475488" y="2221991"/>
            <a:ext cx="1563624" cy="969264"/>
          </a:xfrm>
          <a:prstGeom prst="rect">
            <a:avLst/>
          </a:prstGeom>
          <a:noFill/>
        </p:spPr>
        <p:txBody>
          <a:bodyPr wrap="none" lIns="0" rIns="0" tIns="0" bIns="0" anchor="t">
            <a:noAutofit/>
          </a:bodyPr>
          <a:lstStyle/>
          <a:p>
            <a:pPr algn="l">
              <a:lnSpc>
                <a:spcPts val="1807"/>
              </a:lnSpc>
              <a:spcBef>
                <a:spcPts val="0"/>
              </a:spcBef>
              <a:spcAft>
                <a:spcPts val="0"/>
              </a:spcAft>
              <a:defRPr sz="1600" b="1">
                <a:solidFill>
                  <a:srgbClr val="0072B2"/>
                </a:solidFill>
                <a:latin typeface="DejaVu Sans"/>
              </a:defRPr>
            </a:pPr>
            <a:r>
              <a:t>Theory &amp;</a:t>
            </a:r>
          </a:p>
          <a:p>
            <a:pPr algn="l">
              <a:lnSpc>
                <a:spcPts val="1807"/>
              </a:lnSpc>
              <a:spcBef>
                <a:spcPts val="0"/>
              </a:spcBef>
              <a:spcAft>
                <a:spcPts val="0"/>
              </a:spcAft>
              <a:defRPr sz="1600" b="1">
                <a:solidFill>
                  <a:srgbClr val="0072B2"/>
                </a:solidFill>
                <a:latin typeface="DejaVu Sans"/>
              </a:defRPr>
            </a:pPr>
            <a:r>
              <a:t>Discretization</a:t>
            </a:r>
          </a:p>
          <a:p>
            <a:pPr algn="l">
              <a:lnSpc>
                <a:spcPts val="1807"/>
              </a:lnSpc>
              <a:spcBef>
                <a:spcPts val="0"/>
              </a:spcBef>
              <a:spcAft>
                <a:spcPts val="0"/>
              </a:spcAft>
              <a:defRPr sz="1600" b="1">
                <a:solidFill>
                  <a:srgbClr val="0072B2"/>
                </a:solidFill>
                <a:latin typeface="DejaVu Sans"/>
              </a:defRPr>
            </a:pPr>
            <a:r>
              <a:t>Audit</a:t>
            </a:r>
          </a:p>
        </p:txBody>
      </p:sp>
      <p:sp>
        <p:nvSpPr>
          <p:cNvPr id="11" name="Editable text: Nodal quadrature Kernel / weights Horizon handling"/>
          <p:cNvSpPr txBox="1"/>
          <p:nvPr/>
        </p:nvSpPr>
        <p:spPr>
          <a:xfrm>
            <a:off x="475488" y="3218688"/>
            <a:ext cx="1563624" cy="804672"/>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344B5B"/>
                </a:solidFill>
                <a:latin typeface="DejaVu Sans"/>
              </a:defRPr>
            </a:pPr>
            <a:r>
              <a:t>Nodal quadrature</a:t>
            </a:r>
          </a:p>
          <a:p>
            <a:pPr algn="l">
              <a:lnSpc>
                <a:spcPts val="1355"/>
              </a:lnSpc>
              <a:spcBef>
                <a:spcPts val="0"/>
              </a:spcBef>
              <a:spcAft>
                <a:spcPts val="0"/>
              </a:spcAft>
              <a:defRPr sz="1200" b="0">
                <a:solidFill>
                  <a:srgbClr val="344B5B"/>
                </a:solidFill>
                <a:latin typeface="DejaVu Sans"/>
              </a:defRPr>
            </a:pPr>
            <a:r>
              <a:t>Kernel / weights</a:t>
            </a:r>
          </a:p>
          <a:p>
            <a:pPr algn="l">
              <a:lnSpc>
                <a:spcPts val="1355"/>
              </a:lnSpc>
              <a:spcBef>
                <a:spcPts val="0"/>
              </a:spcBef>
              <a:spcAft>
                <a:spcPts val="0"/>
              </a:spcAft>
              <a:defRPr sz="1200" b="0">
                <a:solidFill>
                  <a:srgbClr val="344B5B"/>
                </a:solidFill>
                <a:latin typeface="DejaVu Sans"/>
              </a:defRPr>
            </a:pPr>
            <a:r>
              <a:t>Horizon handling</a:t>
            </a:r>
          </a:p>
        </p:txBody>
      </p:sp>
      <p:sp>
        <p:nvSpPr>
          <p:cNvPr id="12" name="Workflow arrow 1 to 2"/>
          <p:cNvSpPr/>
          <p:nvPr/>
        </p:nvSpPr>
        <p:spPr>
          <a:xfrm>
            <a:off x="2168956" y="2724912"/>
            <a:ext cx="96012" cy="210312"/>
          </a:xfrm>
          <a:prstGeom prst="chevron">
            <a:avLst/>
          </a:prstGeom>
          <a:solidFill>
            <a:srgbClr val="6875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Stage 2: COMPLETED"/>
          <p:cNvSpPr/>
          <p:nvPr/>
        </p:nvSpPr>
        <p:spPr>
          <a:xfrm>
            <a:off x="2286000" y="1737360"/>
            <a:ext cx="2148840" cy="2404872"/>
          </a:xfrm>
          <a:prstGeom prst="rect">
            <a:avLst/>
          </a:prstGeom>
          <a:solidFill>
            <a:srgbClr val="F0F6FA"/>
          </a:solidFill>
          <a:ln w="8255">
            <a:solidFill>
              <a:srgbClr val="0072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Stage 2 status rail"/>
          <p:cNvSpPr/>
          <p:nvPr/>
        </p:nvSpPr>
        <p:spPr>
          <a:xfrm>
            <a:off x="2286000" y="1737360"/>
            <a:ext cx="2148840" cy="502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tage 2 editable status icon"/>
          <p:cNvSpPr/>
          <p:nvPr/>
        </p:nvSpPr>
        <p:spPr>
          <a:xfrm>
            <a:off x="2395728" y="1874519"/>
            <a:ext cx="210312" cy="210312"/>
          </a:xfrm>
          <a:prstGeom prst="ellipse">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Editable text: ✓"/>
          <p:cNvSpPr txBox="1"/>
          <p:nvPr/>
        </p:nvSpPr>
        <p:spPr>
          <a:xfrm>
            <a:off x="2395728" y="1871776"/>
            <a:ext cx="210312" cy="237744"/>
          </a:xfrm>
          <a:prstGeom prst="rect">
            <a:avLst/>
          </a:prstGeom>
          <a:noFill/>
        </p:spPr>
        <p:txBody>
          <a:bodyPr wrap="none" lIns="0" rIns="0" tIns="0" bIns="0" anchor="t">
            <a:noAutofit/>
          </a:bodyPr>
          <a:lstStyle/>
          <a:p>
            <a:pPr algn="ctr">
              <a:lnSpc>
                <a:spcPts val="1243"/>
              </a:lnSpc>
              <a:spcBef>
                <a:spcPts val="0"/>
              </a:spcBef>
              <a:spcAft>
                <a:spcPts val="0"/>
              </a:spcAft>
              <a:defRPr sz="1100" b="1">
                <a:solidFill>
                  <a:srgbClr val="FFFFFF"/>
                </a:solidFill>
                <a:latin typeface="DejaVu Sans"/>
              </a:defRPr>
            </a:pPr>
            <a:r>
              <a:t>✓</a:t>
            </a:r>
          </a:p>
        </p:txBody>
      </p:sp>
      <p:sp>
        <p:nvSpPr>
          <p:cNvPr id="17" name="Editable text: 2  COMPLETED"/>
          <p:cNvSpPr txBox="1"/>
          <p:nvPr/>
        </p:nvSpPr>
        <p:spPr>
          <a:xfrm>
            <a:off x="2679192" y="1892807"/>
            <a:ext cx="1700784" cy="219456"/>
          </a:xfrm>
          <a:prstGeom prst="rect">
            <a:avLst/>
          </a:prstGeom>
          <a:noFill/>
        </p:spPr>
        <p:txBody>
          <a:bodyPr wrap="none" lIns="0" rIns="0" tIns="0" bIns="0" anchor="t">
            <a:noAutofit/>
          </a:bodyPr>
          <a:lstStyle/>
          <a:p>
            <a:pPr algn="l">
              <a:lnSpc>
                <a:spcPts val="1243"/>
              </a:lnSpc>
              <a:spcBef>
                <a:spcPts val="0"/>
              </a:spcBef>
              <a:spcAft>
                <a:spcPts val="0"/>
              </a:spcAft>
              <a:defRPr sz="1100" b="1">
                <a:solidFill>
                  <a:srgbClr val="0072B2"/>
                </a:solidFill>
                <a:latin typeface="DejaVu Sans"/>
              </a:defRPr>
            </a:pPr>
            <a:r>
              <a:t>2 COMPLETED</a:t>
            </a:r>
          </a:p>
        </p:txBody>
      </p:sp>
      <p:sp>
        <p:nvSpPr>
          <p:cNvPr id="18" name="Editable text: BAQP Mechanics: Affine, Energy &amp; First Variation"/>
          <p:cNvSpPr txBox="1"/>
          <p:nvPr/>
        </p:nvSpPr>
        <p:spPr>
          <a:xfrm>
            <a:off x="2395728" y="2221991"/>
            <a:ext cx="1929384" cy="969264"/>
          </a:xfrm>
          <a:prstGeom prst="rect">
            <a:avLst/>
          </a:prstGeom>
          <a:noFill/>
        </p:spPr>
        <p:txBody>
          <a:bodyPr wrap="none" lIns="0" rIns="0" tIns="0" bIns="0" anchor="t">
            <a:noAutofit/>
          </a:bodyPr>
          <a:lstStyle/>
          <a:p>
            <a:pPr algn="l">
              <a:lnSpc>
                <a:spcPts val="1807"/>
              </a:lnSpc>
              <a:spcBef>
                <a:spcPts val="0"/>
              </a:spcBef>
              <a:spcAft>
                <a:spcPts val="0"/>
              </a:spcAft>
              <a:defRPr sz="1600" b="1">
                <a:solidFill>
                  <a:srgbClr val="0072B2"/>
                </a:solidFill>
                <a:latin typeface="DejaVu Sans"/>
              </a:defRPr>
            </a:pPr>
            <a:r>
              <a:t>BAQP</a:t>
            </a:r>
          </a:p>
          <a:p>
            <a:pPr algn="l">
              <a:lnSpc>
                <a:spcPts val="1807"/>
              </a:lnSpc>
              <a:spcBef>
                <a:spcPts val="0"/>
              </a:spcBef>
              <a:spcAft>
                <a:spcPts val="0"/>
              </a:spcAft>
              <a:defRPr sz="1600" b="1">
                <a:solidFill>
                  <a:srgbClr val="0072B2"/>
                </a:solidFill>
                <a:latin typeface="DejaVu Sans"/>
              </a:defRPr>
            </a:pPr>
            <a:r>
              <a:t>Mechanics:</a:t>
            </a:r>
          </a:p>
          <a:p>
            <a:pPr algn="l">
              <a:lnSpc>
                <a:spcPts val="1807"/>
              </a:lnSpc>
              <a:spcBef>
                <a:spcPts val="0"/>
              </a:spcBef>
              <a:spcAft>
                <a:spcPts val="0"/>
              </a:spcAft>
              <a:defRPr sz="1600" b="1">
                <a:solidFill>
                  <a:srgbClr val="0072B2"/>
                </a:solidFill>
                <a:latin typeface="DejaVu Sans"/>
              </a:defRPr>
            </a:pPr>
            <a:r>
              <a:t>Affine, Energy &amp;</a:t>
            </a:r>
          </a:p>
          <a:p>
            <a:pPr algn="l">
              <a:lnSpc>
                <a:spcPts val="1807"/>
              </a:lnSpc>
              <a:spcBef>
                <a:spcPts val="0"/>
              </a:spcBef>
              <a:spcAft>
                <a:spcPts val="0"/>
              </a:spcAft>
              <a:defRPr sz="1600" b="1">
                <a:solidFill>
                  <a:srgbClr val="0072B2"/>
                </a:solidFill>
                <a:latin typeface="DejaVu Sans"/>
              </a:defRPr>
            </a:pPr>
            <a:r>
              <a:t>First Variation</a:t>
            </a:r>
          </a:p>
        </p:txBody>
      </p:sp>
      <p:sp>
        <p:nvSpPr>
          <p:cNvPr id="19" name="Editable text: Affine kinematics Energy + first variation Spectral mechanics"/>
          <p:cNvSpPr txBox="1"/>
          <p:nvPr/>
        </p:nvSpPr>
        <p:spPr>
          <a:xfrm>
            <a:off x="2395728" y="3218688"/>
            <a:ext cx="1929384" cy="804672"/>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344B5B"/>
                </a:solidFill>
                <a:latin typeface="DejaVu Sans"/>
              </a:defRPr>
            </a:pPr>
            <a:r>
              <a:t>Affine kinematics</a:t>
            </a:r>
          </a:p>
          <a:p>
            <a:pPr algn="l">
              <a:lnSpc>
                <a:spcPts val="1355"/>
              </a:lnSpc>
              <a:spcBef>
                <a:spcPts val="0"/>
              </a:spcBef>
              <a:spcAft>
                <a:spcPts val="0"/>
              </a:spcAft>
              <a:defRPr sz="1200" b="0">
                <a:solidFill>
                  <a:srgbClr val="344B5B"/>
                </a:solidFill>
                <a:latin typeface="DejaVu Sans"/>
              </a:defRPr>
            </a:pPr>
            <a:r>
              <a:t>Energy + first variation</a:t>
            </a:r>
          </a:p>
          <a:p>
            <a:pPr algn="l">
              <a:lnSpc>
                <a:spcPts val="1355"/>
              </a:lnSpc>
              <a:spcBef>
                <a:spcPts val="0"/>
              </a:spcBef>
              <a:spcAft>
                <a:spcPts val="0"/>
              </a:spcAft>
              <a:defRPr sz="1200" b="0">
                <a:solidFill>
                  <a:srgbClr val="344B5B"/>
                </a:solidFill>
                <a:latin typeface="DejaVu Sans"/>
              </a:defRPr>
            </a:pPr>
            <a:r>
              <a:t>Spectral mechanics</a:t>
            </a:r>
          </a:p>
        </p:txBody>
      </p:sp>
      <p:sp>
        <p:nvSpPr>
          <p:cNvPr id="20" name="Workflow arrow 2 to 3"/>
          <p:cNvSpPr/>
          <p:nvPr/>
        </p:nvSpPr>
        <p:spPr>
          <a:xfrm>
            <a:off x="4454956" y="2724912"/>
            <a:ext cx="96012" cy="210312"/>
          </a:xfrm>
          <a:prstGeom prst="chevron">
            <a:avLst/>
          </a:prstGeom>
          <a:solidFill>
            <a:srgbClr val="6875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Stage 3: COMPLETED"/>
          <p:cNvSpPr/>
          <p:nvPr/>
        </p:nvSpPr>
        <p:spPr>
          <a:xfrm>
            <a:off x="4572000" y="1737360"/>
            <a:ext cx="2194560" cy="2404872"/>
          </a:xfrm>
          <a:prstGeom prst="rect">
            <a:avLst/>
          </a:prstGeom>
          <a:solidFill>
            <a:srgbClr val="F0F6FA"/>
          </a:solidFill>
          <a:ln w="8255">
            <a:solidFill>
              <a:srgbClr val="0072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tage 3 status rail"/>
          <p:cNvSpPr/>
          <p:nvPr/>
        </p:nvSpPr>
        <p:spPr>
          <a:xfrm>
            <a:off x="4572000" y="1737360"/>
            <a:ext cx="2194560" cy="502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tage 3 editable status icon"/>
          <p:cNvSpPr/>
          <p:nvPr/>
        </p:nvSpPr>
        <p:spPr>
          <a:xfrm>
            <a:off x="4681728" y="1874519"/>
            <a:ext cx="210312" cy="210312"/>
          </a:xfrm>
          <a:prstGeom prst="ellipse">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Editable text: ✓"/>
          <p:cNvSpPr txBox="1"/>
          <p:nvPr/>
        </p:nvSpPr>
        <p:spPr>
          <a:xfrm>
            <a:off x="4681728" y="1871776"/>
            <a:ext cx="210312" cy="237744"/>
          </a:xfrm>
          <a:prstGeom prst="rect">
            <a:avLst/>
          </a:prstGeom>
          <a:noFill/>
        </p:spPr>
        <p:txBody>
          <a:bodyPr wrap="none" lIns="0" rIns="0" tIns="0" bIns="0" anchor="t">
            <a:noAutofit/>
          </a:bodyPr>
          <a:lstStyle/>
          <a:p>
            <a:pPr algn="ctr">
              <a:lnSpc>
                <a:spcPts val="1243"/>
              </a:lnSpc>
              <a:spcBef>
                <a:spcPts val="0"/>
              </a:spcBef>
              <a:spcAft>
                <a:spcPts val="0"/>
              </a:spcAft>
              <a:defRPr sz="1100" b="1">
                <a:solidFill>
                  <a:srgbClr val="FFFFFF"/>
                </a:solidFill>
                <a:latin typeface="DejaVu Sans"/>
              </a:defRPr>
            </a:pPr>
            <a:r>
              <a:t>✓</a:t>
            </a:r>
          </a:p>
        </p:txBody>
      </p:sp>
      <p:sp>
        <p:nvSpPr>
          <p:cNvPr id="25" name="Editable text: 3  COMPLETED"/>
          <p:cNvSpPr txBox="1"/>
          <p:nvPr/>
        </p:nvSpPr>
        <p:spPr>
          <a:xfrm>
            <a:off x="4965192" y="1892807"/>
            <a:ext cx="1746504" cy="219456"/>
          </a:xfrm>
          <a:prstGeom prst="rect">
            <a:avLst/>
          </a:prstGeom>
          <a:noFill/>
        </p:spPr>
        <p:txBody>
          <a:bodyPr wrap="none" lIns="0" rIns="0" tIns="0" bIns="0" anchor="t">
            <a:noAutofit/>
          </a:bodyPr>
          <a:lstStyle/>
          <a:p>
            <a:pPr algn="l">
              <a:lnSpc>
                <a:spcPts val="1243"/>
              </a:lnSpc>
              <a:spcBef>
                <a:spcPts val="0"/>
              </a:spcBef>
              <a:spcAft>
                <a:spcPts val="0"/>
              </a:spcAft>
              <a:defRPr sz="1100" b="1">
                <a:solidFill>
                  <a:srgbClr val="0072B2"/>
                </a:solidFill>
                <a:latin typeface="DejaVu Sans"/>
              </a:defRPr>
            </a:pPr>
            <a:r>
              <a:t>3 COMPLETED</a:t>
            </a:r>
          </a:p>
        </p:txBody>
      </p:sp>
      <p:sp>
        <p:nvSpPr>
          <p:cNvPr id="26" name="Editable text: Independent Cross-Check: RKCMaterial / Peridynamics.jl"/>
          <p:cNvSpPr txBox="1"/>
          <p:nvPr/>
        </p:nvSpPr>
        <p:spPr>
          <a:xfrm>
            <a:off x="4681728" y="2221991"/>
            <a:ext cx="1975104" cy="969264"/>
          </a:xfrm>
          <a:prstGeom prst="rect">
            <a:avLst/>
          </a:prstGeom>
          <a:noFill/>
        </p:spPr>
        <p:txBody>
          <a:bodyPr wrap="none" lIns="0" rIns="0" tIns="0" bIns="0" anchor="t">
            <a:noAutofit/>
          </a:bodyPr>
          <a:lstStyle/>
          <a:p>
            <a:pPr algn="l">
              <a:lnSpc>
                <a:spcPts val="1807"/>
              </a:lnSpc>
              <a:spcBef>
                <a:spcPts val="0"/>
              </a:spcBef>
              <a:spcAft>
                <a:spcPts val="0"/>
              </a:spcAft>
              <a:defRPr sz="1600" b="1">
                <a:solidFill>
                  <a:srgbClr val="0072B2"/>
                </a:solidFill>
                <a:latin typeface="DejaVu Sans"/>
              </a:defRPr>
            </a:pPr>
            <a:r>
              <a:t>Independent</a:t>
            </a:r>
          </a:p>
          <a:p>
            <a:pPr algn="l">
              <a:lnSpc>
                <a:spcPts val="1807"/>
              </a:lnSpc>
              <a:spcBef>
                <a:spcPts val="0"/>
              </a:spcBef>
              <a:spcAft>
                <a:spcPts val="0"/>
              </a:spcAft>
              <a:defRPr sz="1600" b="1">
                <a:solidFill>
                  <a:srgbClr val="0072B2"/>
                </a:solidFill>
                <a:latin typeface="DejaVu Sans"/>
              </a:defRPr>
            </a:pPr>
            <a:r>
              <a:t>Cross-Check:</a:t>
            </a:r>
          </a:p>
          <a:p>
            <a:pPr algn="l">
              <a:lnSpc>
                <a:spcPts val="1807"/>
              </a:lnSpc>
              <a:spcBef>
                <a:spcPts val="0"/>
              </a:spcBef>
              <a:spcAft>
                <a:spcPts val="0"/>
              </a:spcAft>
              <a:defRPr sz="1600" b="1">
                <a:solidFill>
                  <a:srgbClr val="0072B2"/>
                </a:solidFill>
                <a:latin typeface="DejaVu Sans"/>
              </a:defRPr>
            </a:pPr>
            <a:r>
              <a:t>RKCMaterial /</a:t>
            </a:r>
          </a:p>
          <a:p>
            <a:pPr algn="l">
              <a:lnSpc>
                <a:spcPts val="1807"/>
              </a:lnSpc>
              <a:spcBef>
                <a:spcPts val="0"/>
              </a:spcBef>
              <a:spcAft>
                <a:spcPts val="0"/>
              </a:spcAft>
              <a:defRPr sz="1600" b="1">
                <a:solidFill>
                  <a:srgbClr val="0072B2"/>
                </a:solidFill>
                <a:latin typeface="DejaVu Sans"/>
              </a:defRPr>
            </a:pPr>
            <a:r>
              <a:t>Peridynamics.jl</a:t>
            </a:r>
          </a:p>
        </p:txBody>
      </p:sp>
      <p:sp>
        <p:nvSpPr>
          <p:cNvPr id="27" name="Editable text: Local / author match No clear porting error"/>
          <p:cNvSpPr txBox="1"/>
          <p:nvPr/>
        </p:nvSpPr>
        <p:spPr>
          <a:xfrm>
            <a:off x="4681728" y="3218688"/>
            <a:ext cx="1975104" cy="804672"/>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344B5B"/>
                </a:solidFill>
                <a:latin typeface="DejaVu Sans"/>
              </a:defRPr>
            </a:pPr>
            <a:r>
              <a:t>Local / author match</a:t>
            </a:r>
          </a:p>
          <a:p>
            <a:pPr algn="l">
              <a:lnSpc>
                <a:spcPts val="1355"/>
              </a:lnSpc>
              <a:spcBef>
                <a:spcPts val="0"/>
              </a:spcBef>
              <a:spcAft>
                <a:spcPts val="0"/>
              </a:spcAft>
              <a:defRPr sz="1200" b="0">
                <a:solidFill>
                  <a:srgbClr val="344B5B"/>
                </a:solidFill>
                <a:latin typeface="DejaVu Sans"/>
              </a:defRPr>
            </a:pPr>
            <a:r>
              <a:t>No clear porting error</a:t>
            </a:r>
          </a:p>
        </p:txBody>
      </p:sp>
      <p:sp>
        <p:nvSpPr>
          <p:cNvPr id="28" name="Editable text: Author force agreement: 5.9 × 10⁻¹⁵ relative"/>
          <p:cNvSpPr txBox="1"/>
          <p:nvPr/>
        </p:nvSpPr>
        <p:spPr>
          <a:xfrm>
            <a:off x="4681728" y="3630168"/>
            <a:ext cx="1975104" cy="429768"/>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0072B2"/>
                </a:solidFill>
                <a:latin typeface="DejaVu Sans"/>
              </a:defRPr>
            </a:pPr>
            <a:r>
              <a:t>Author force agreement:</a:t>
            </a:r>
          </a:p>
          <a:p>
            <a:pPr algn="l">
              <a:lnSpc>
                <a:spcPts val="1299"/>
              </a:lnSpc>
              <a:spcBef>
                <a:spcPts val="0"/>
              </a:spcBef>
              <a:spcAft>
                <a:spcPts val="0"/>
              </a:spcAft>
              <a:defRPr sz="1150" b="0">
                <a:solidFill>
                  <a:srgbClr val="0072B2"/>
                </a:solidFill>
                <a:latin typeface="DejaVu Sans"/>
              </a:defRPr>
            </a:pPr>
            <a:r>
              <a:t>5.9 × 10⁻¹⁵ relative</a:t>
            </a:r>
          </a:p>
        </p:txBody>
      </p:sp>
      <p:sp>
        <p:nvSpPr>
          <p:cNvPr id="29" name="Workflow arrow 3 to 4"/>
          <p:cNvSpPr/>
          <p:nvPr/>
        </p:nvSpPr>
        <p:spPr>
          <a:xfrm>
            <a:off x="6786676" y="2724912"/>
            <a:ext cx="96012" cy="210312"/>
          </a:xfrm>
          <a:prstGeom prst="chevron">
            <a:avLst/>
          </a:prstGeom>
          <a:solidFill>
            <a:srgbClr val="6875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Stage 4: CURRENT"/>
          <p:cNvSpPr/>
          <p:nvPr/>
        </p:nvSpPr>
        <p:spPr>
          <a:xfrm>
            <a:off x="6903720" y="1737360"/>
            <a:ext cx="2651760" cy="2404872"/>
          </a:xfrm>
          <a:prstGeom prst="rect">
            <a:avLst/>
          </a:prstGeom>
          <a:solidFill>
            <a:srgbClr val="FFF3E5"/>
          </a:solidFill>
          <a:ln w="21590">
            <a:solidFill>
              <a:srgbClr val="B9601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tage 4 status rail"/>
          <p:cNvSpPr/>
          <p:nvPr/>
        </p:nvSpPr>
        <p:spPr>
          <a:xfrm>
            <a:off x="6903720" y="1737360"/>
            <a:ext cx="2651760" cy="50292"/>
          </a:xfrm>
          <a:prstGeom prst="rect">
            <a:avLst/>
          </a:prstGeom>
          <a:solidFill>
            <a:srgbClr val="B9601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tage 4 editable status icon"/>
          <p:cNvSpPr/>
          <p:nvPr/>
        </p:nvSpPr>
        <p:spPr>
          <a:xfrm>
            <a:off x="7013448" y="1874519"/>
            <a:ext cx="210312" cy="210312"/>
          </a:xfrm>
          <a:prstGeom prst="ellipse">
            <a:avLst/>
          </a:prstGeom>
          <a:solidFill>
            <a:srgbClr val="B9601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Editable text: •"/>
          <p:cNvSpPr txBox="1"/>
          <p:nvPr/>
        </p:nvSpPr>
        <p:spPr>
          <a:xfrm>
            <a:off x="7013448" y="1871776"/>
            <a:ext cx="210312" cy="237744"/>
          </a:xfrm>
          <a:prstGeom prst="rect">
            <a:avLst/>
          </a:prstGeom>
          <a:noFill/>
        </p:spPr>
        <p:txBody>
          <a:bodyPr wrap="none" lIns="0" rIns="0" tIns="0" bIns="0" anchor="t">
            <a:noAutofit/>
          </a:bodyPr>
          <a:lstStyle/>
          <a:p>
            <a:pPr algn="ctr">
              <a:lnSpc>
                <a:spcPts val="1243"/>
              </a:lnSpc>
              <a:spcBef>
                <a:spcPts val="0"/>
              </a:spcBef>
              <a:spcAft>
                <a:spcPts val="0"/>
              </a:spcAft>
              <a:defRPr sz="1100" b="1">
                <a:solidFill>
                  <a:srgbClr val="FFFFFF"/>
                </a:solidFill>
                <a:latin typeface="DejaVu Sans"/>
              </a:defRPr>
            </a:pPr>
            <a:r>
              <a:t>•</a:t>
            </a:r>
          </a:p>
        </p:txBody>
      </p:sp>
      <p:sp>
        <p:nvSpPr>
          <p:cNvPr id="34" name="Editable text: 4  CURRENT"/>
          <p:cNvSpPr txBox="1"/>
          <p:nvPr/>
        </p:nvSpPr>
        <p:spPr>
          <a:xfrm>
            <a:off x="7296912" y="1892807"/>
            <a:ext cx="2203704" cy="219456"/>
          </a:xfrm>
          <a:prstGeom prst="rect">
            <a:avLst/>
          </a:prstGeom>
          <a:noFill/>
        </p:spPr>
        <p:txBody>
          <a:bodyPr wrap="none" lIns="0" rIns="0" tIns="0" bIns="0" anchor="t">
            <a:noAutofit/>
          </a:bodyPr>
          <a:lstStyle/>
          <a:p>
            <a:pPr algn="l">
              <a:lnSpc>
                <a:spcPts val="1243"/>
              </a:lnSpc>
              <a:spcBef>
                <a:spcPts val="0"/>
              </a:spcBef>
              <a:spcAft>
                <a:spcPts val="0"/>
              </a:spcAft>
              <a:defRPr sz="1100" b="1">
                <a:solidFill>
                  <a:srgbClr val="B96013"/>
                </a:solidFill>
                <a:latin typeface="DejaVu Sans"/>
              </a:defRPr>
            </a:pPr>
            <a:r>
              <a:t>4 CURRENT</a:t>
            </a:r>
          </a:p>
        </p:txBody>
      </p:sp>
      <p:sp>
        <p:nvSpPr>
          <p:cNvPr id="35" name="Editable text: Finite-Domain Nonlocal Boundary Consistency"/>
          <p:cNvSpPr txBox="1"/>
          <p:nvPr/>
        </p:nvSpPr>
        <p:spPr>
          <a:xfrm>
            <a:off x="7013448" y="2221991"/>
            <a:ext cx="2432304" cy="969264"/>
          </a:xfrm>
          <a:prstGeom prst="rect">
            <a:avLst/>
          </a:prstGeom>
          <a:noFill/>
        </p:spPr>
        <p:txBody>
          <a:bodyPr wrap="none" lIns="0" rIns="0" tIns="0" bIns="0" anchor="t">
            <a:noAutofit/>
          </a:bodyPr>
          <a:lstStyle/>
          <a:p>
            <a:pPr algn="l">
              <a:lnSpc>
                <a:spcPts val="1807"/>
              </a:lnSpc>
              <a:spcBef>
                <a:spcPts val="0"/>
              </a:spcBef>
              <a:spcAft>
                <a:spcPts val="0"/>
              </a:spcAft>
              <a:defRPr sz="1600" b="1">
                <a:solidFill>
                  <a:srgbClr val="B96013"/>
                </a:solidFill>
                <a:latin typeface="DejaVu Sans"/>
              </a:defRPr>
            </a:pPr>
            <a:r>
              <a:t>Finite-Domain</a:t>
            </a:r>
          </a:p>
          <a:p>
            <a:pPr algn="l">
              <a:lnSpc>
                <a:spcPts val="1807"/>
              </a:lnSpc>
              <a:spcBef>
                <a:spcPts val="0"/>
              </a:spcBef>
              <a:spcAft>
                <a:spcPts val="0"/>
              </a:spcAft>
              <a:defRPr sz="1600" b="1">
                <a:solidFill>
                  <a:srgbClr val="B96013"/>
                </a:solidFill>
                <a:latin typeface="DejaVu Sans"/>
              </a:defRPr>
            </a:pPr>
            <a:r>
              <a:t>Nonlocal Boundary</a:t>
            </a:r>
          </a:p>
          <a:p>
            <a:pPr algn="l">
              <a:lnSpc>
                <a:spcPts val="1807"/>
              </a:lnSpc>
              <a:spcBef>
                <a:spcPts val="0"/>
              </a:spcBef>
              <a:spcAft>
                <a:spcPts val="0"/>
              </a:spcAft>
              <a:defRPr sz="1600" b="1">
                <a:solidFill>
                  <a:srgbClr val="B96013"/>
                </a:solidFill>
                <a:latin typeface="DejaVu Sans"/>
              </a:defRPr>
            </a:pPr>
            <a:r>
              <a:t>Consistency</a:t>
            </a:r>
          </a:p>
        </p:txBody>
      </p:sp>
      <p:sp>
        <p:nvSpPr>
          <p:cNvPr id="36" name="Editable text: Affine ≠ equilibrium Z / neighbor-Z channels Cause: INCONCLUSIVE"/>
          <p:cNvSpPr txBox="1"/>
          <p:nvPr/>
        </p:nvSpPr>
        <p:spPr>
          <a:xfrm>
            <a:off x="7013448" y="3218688"/>
            <a:ext cx="2432304" cy="804672"/>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344B5B"/>
                </a:solidFill>
                <a:latin typeface="DejaVu Sans"/>
              </a:defRPr>
            </a:pPr>
            <a:r>
              <a:t>Affine ≠ equilibrium</a:t>
            </a:r>
          </a:p>
          <a:p>
            <a:pPr algn="l">
              <a:lnSpc>
                <a:spcPts val="1355"/>
              </a:lnSpc>
              <a:spcBef>
                <a:spcPts val="0"/>
              </a:spcBef>
              <a:spcAft>
                <a:spcPts val="0"/>
              </a:spcAft>
              <a:defRPr sz="1200" b="0">
                <a:solidFill>
                  <a:srgbClr val="344B5B"/>
                </a:solidFill>
                <a:latin typeface="DejaVu Sans"/>
              </a:defRPr>
            </a:pPr>
            <a:r>
              <a:t>Z / neighbor-Z channels</a:t>
            </a:r>
          </a:p>
          <a:p>
            <a:pPr algn="l">
              <a:lnSpc>
                <a:spcPts val="1355"/>
              </a:lnSpc>
              <a:spcBef>
                <a:spcPts val="0"/>
              </a:spcBef>
              <a:spcAft>
                <a:spcPts val="0"/>
              </a:spcAft>
              <a:defRPr sz="1200" b="0">
                <a:solidFill>
                  <a:srgbClr val="344B5B"/>
                </a:solidFill>
                <a:latin typeface="DejaVu Sans"/>
              </a:defRPr>
            </a:pPr>
            <a:r>
              <a:t>Cause: INCONCLUSIVE</a:t>
            </a:r>
          </a:p>
        </p:txBody>
      </p:sp>
      <p:sp>
        <p:nvSpPr>
          <p:cNvPr id="37" name="Workflow arrow 4 to 5"/>
          <p:cNvSpPr/>
          <p:nvPr/>
        </p:nvSpPr>
        <p:spPr>
          <a:xfrm>
            <a:off x="9575596" y="2724912"/>
            <a:ext cx="96012" cy="210312"/>
          </a:xfrm>
          <a:prstGeom prst="chevron">
            <a:avLst/>
          </a:prstGeom>
          <a:solidFill>
            <a:srgbClr val="6875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tage 5: NEXT"/>
          <p:cNvSpPr/>
          <p:nvPr/>
        </p:nvSpPr>
        <p:spPr>
          <a:xfrm>
            <a:off x="9692640" y="1737360"/>
            <a:ext cx="2240280" cy="2404872"/>
          </a:xfrm>
          <a:prstGeom prst="rect">
            <a:avLst/>
          </a:prstGeom>
          <a:solidFill>
            <a:srgbClr val="F4F5F6"/>
          </a:solidFill>
          <a:ln w="8255">
            <a:solidFill>
              <a:srgbClr val="333E4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Stage 5 status rail"/>
          <p:cNvSpPr/>
          <p:nvPr/>
        </p:nvSpPr>
        <p:spPr>
          <a:xfrm>
            <a:off x="9692640" y="1737360"/>
            <a:ext cx="2240280" cy="50292"/>
          </a:xfrm>
          <a:prstGeom prst="rect">
            <a:avLst/>
          </a:prstGeom>
          <a:solidFill>
            <a:srgbClr val="333E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tage 5 editable status icon"/>
          <p:cNvSpPr/>
          <p:nvPr/>
        </p:nvSpPr>
        <p:spPr>
          <a:xfrm>
            <a:off x="9802367" y="1874519"/>
            <a:ext cx="210312" cy="210312"/>
          </a:xfrm>
          <a:prstGeom prst="ellipse">
            <a:avLst/>
          </a:prstGeom>
          <a:solidFill>
            <a:srgbClr val="333E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Editable text: ›"/>
          <p:cNvSpPr txBox="1"/>
          <p:nvPr/>
        </p:nvSpPr>
        <p:spPr>
          <a:xfrm>
            <a:off x="9802367" y="1871776"/>
            <a:ext cx="210312" cy="237744"/>
          </a:xfrm>
          <a:prstGeom prst="rect">
            <a:avLst/>
          </a:prstGeom>
          <a:noFill/>
        </p:spPr>
        <p:txBody>
          <a:bodyPr wrap="none" lIns="0" rIns="0" tIns="0" bIns="0" anchor="t">
            <a:noAutofit/>
          </a:bodyPr>
          <a:lstStyle/>
          <a:p>
            <a:pPr algn="ctr">
              <a:lnSpc>
                <a:spcPts val="1243"/>
              </a:lnSpc>
              <a:spcBef>
                <a:spcPts val="0"/>
              </a:spcBef>
              <a:spcAft>
                <a:spcPts val="0"/>
              </a:spcAft>
              <a:defRPr sz="1100" b="1">
                <a:solidFill>
                  <a:srgbClr val="FFFFFF"/>
                </a:solidFill>
                <a:latin typeface="DejaVu Sans"/>
              </a:defRPr>
            </a:pPr>
            <a:r>
              <a:t>›</a:t>
            </a:r>
          </a:p>
        </p:txBody>
      </p:sp>
      <p:sp>
        <p:nvSpPr>
          <p:cNvPr id="42" name="Editable text: 5  NEXT"/>
          <p:cNvSpPr txBox="1"/>
          <p:nvPr/>
        </p:nvSpPr>
        <p:spPr>
          <a:xfrm>
            <a:off x="10085832" y="1892807"/>
            <a:ext cx="1792224" cy="219456"/>
          </a:xfrm>
          <a:prstGeom prst="rect">
            <a:avLst/>
          </a:prstGeom>
          <a:noFill/>
        </p:spPr>
        <p:txBody>
          <a:bodyPr wrap="none" lIns="0" rIns="0" tIns="0" bIns="0" anchor="t">
            <a:noAutofit/>
          </a:bodyPr>
          <a:lstStyle/>
          <a:p>
            <a:pPr algn="l">
              <a:lnSpc>
                <a:spcPts val="1243"/>
              </a:lnSpc>
              <a:spcBef>
                <a:spcPts val="0"/>
              </a:spcBef>
              <a:spcAft>
                <a:spcPts val="0"/>
              </a:spcAft>
              <a:defRPr sz="1100" b="1">
                <a:solidFill>
                  <a:srgbClr val="333E48"/>
                </a:solidFill>
                <a:latin typeface="DejaVu Sans"/>
              </a:defRPr>
            </a:pPr>
            <a:r>
              <a:t>5 NEXT</a:t>
            </a:r>
          </a:p>
        </p:txBody>
      </p:sp>
      <p:sp>
        <p:nvSpPr>
          <p:cNvPr id="43" name="Editable text: Fully Closed 3δ Force-Stencil Patch Test"/>
          <p:cNvSpPr txBox="1"/>
          <p:nvPr/>
        </p:nvSpPr>
        <p:spPr>
          <a:xfrm>
            <a:off x="9802367" y="2221991"/>
            <a:ext cx="2020824" cy="969264"/>
          </a:xfrm>
          <a:prstGeom prst="rect">
            <a:avLst/>
          </a:prstGeom>
          <a:noFill/>
        </p:spPr>
        <p:txBody>
          <a:bodyPr wrap="none" lIns="0" rIns="0" tIns="0" bIns="0" anchor="t">
            <a:noAutofit/>
          </a:bodyPr>
          <a:lstStyle/>
          <a:p>
            <a:pPr algn="l">
              <a:lnSpc>
                <a:spcPts val="1807"/>
              </a:lnSpc>
              <a:spcBef>
                <a:spcPts val="0"/>
              </a:spcBef>
              <a:spcAft>
                <a:spcPts val="0"/>
              </a:spcAft>
              <a:defRPr sz="1600" b="1">
                <a:solidFill>
                  <a:srgbClr val="333E48"/>
                </a:solidFill>
                <a:latin typeface="DejaVu Sans"/>
              </a:defRPr>
            </a:pPr>
            <a:r>
              <a:t>Fully Closed 3δ</a:t>
            </a:r>
          </a:p>
          <a:p>
            <a:pPr algn="l">
              <a:lnSpc>
                <a:spcPts val="1807"/>
              </a:lnSpc>
              <a:spcBef>
                <a:spcPts val="0"/>
              </a:spcBef>
              <a:spcAft>
                <a:spcPts val="0"/>
              </a:spcAft>
              <a:defRPr sz="1600" b="1">
                <a:solidFill>
                  <a:srgbClr val="333E48"/>
                </a:solidFill>
                <a:latin typeface="DejaVu Sans"/>
              </a:defRPr>
            </a:pPr>
            <a:r>
              <a:t>Force-Stencil</a:t>
            </a:r>
          </a:p>
          <a:p>
            <a:pPr algn="l">
              <a:lnSpc>
                <a:spcPts val="1807"/>
              </a:lnSpc>
              <a:spcBef>
                <a:spcPts val="0"/>
              </a:spcBef>
              <a:spcAft>
                <a:spcPts val="0"/>
              </a:spcAft>
              <a:defRPr sz="1600" b="1">
                <a:solidFill>
                  <a:srgbClr val="333E48"/>
                </a:solidFill>
                <a:latin typeface="DejaVu Sans"/>
              </a:defRPr>
            </a:pPr>
            <a:r>
              <a:t>Patch Test</a:t>
            </a:r>
          </a:p>
        </p:txBody>
      </p:sp>
      <p:sp>
        <p:nvSpPr>
          <p:cNvPr id="44" name="Editable text: Isolate central region Close force dependencies"/>
          <p:cNvSpPr txBox="1"/>
          <p:nvPr/>
        </p:nvSpPr>
        <p:spPr>
          <a:xfrm>
            <a:off x="9802367" y="3218688"/>
            <a:ext cx="2020824" cy="804672"/>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344B5B"/>
                </a:solidFill>
                <a:latin typeface="DejaVu Sans"/>
              </a:defRPr>
            </a:pPr>
            <a:r>
              <a:t>Isolate central region</a:t>
            </a:r>
          </a:p>
          <a:p>
            <a:pPr algn="l">
              <a:lnSpc>
                <a:spcPts val="1355"/>
              </a:lnSpc>
              <a:spcBef>
                <a:spcPts val="0"/>
              </a:spcBef>
              <a:spcAft>
                <a:spcPts val="0"/>
              </a:spcAft>
              <a:defRPr sz="1200" b="0">
                <a:solidFill>
                  <a:srgbClr val="344B5B"/>
                </a:solidFill>
                <a:latin typeface="DejaVu Sans"/>
              </a:defRPr>
            </a:pPr>
            <a:r>
              <a:t>Close force dependencies</a:t>
            </a:r>
          </a:p>
        </p:txBody>
      </p:sp>
      <p:sp>
        <p:nvSpPr>
          <p:cNvPr id="45" name="Editable text: L075: 27 full families; no closed force stencil"/>
          <p:cNvSpPr txBox="1"/>
          <p:nvPr/>
        </p:nvSpPr>
        <p:spPr>
          <a:xfrm>
            <a:off x="9802367" y="3630168"/>
            <a:ext cx="2020824" cy="429768"/>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333E48"/>
                </a:solidFill>
                <a:latin typeface="DejaVu Sans"/>
              </a:defRPr>
            </a:pPr>
            <a:r>
              <a:t>L075: 27 full families;</a:t>
            </a:r>
          </a:p>
          <a:p>
            <a:pPr algn="l">
              <a:lnSpc>
                <a:spcPts val="1299"/>
              </a:lnSpc>
              <a:spcBef>
                <a:spcPts val="0"/>
              </a:spcBef>
              <a:spcAft>
                <a:spcPts val="0"/>
              </a:spcAft>
              <a:defRPr sz="1150" b="0">
                <a:solidFill>
                  <a:srgbClr val="333E48"/>
                </a:solidFill>
                <a:latin typeface="DejaVu Sans"/>
              </a:defRPr>
            </a:pPr>
            <a:r>
              <a:t>no closed force stencil</a:t>
            </a:r>
          </a:p>
        </p:txBody>
      </p:sp>
      <p:sp>
        <p:nvSpPr>
          <p:cNvPr id="46" name="Editable text: 3δ: conservative bound"/>
          <p:cNvSpPr txBox="1"/>
          <p:nvPr/>
        </p:nvSpPr>
        <p:spPr>
          <a:xfrm>
            <a:off x="9692640" y="4178808"/>
            <a:ext cx="2240280" cy="228600"/>
          </a:xfrm>
          <a:prstGeom prst="rect">
            <a:avLst/>
          </a:prstGeom>
          <a:noFill/>
        </p:spPr>
        <p:txBody>
          <a:bodyPr wrap="none" lIns="0" rIns="0" tIns="0" bIns="0" anchor="t">
            <a:noAutofit/>
          </a:bodyPr>
          <a:lstStyle/>
          <a:p>
            <a:pPr algn="l">
              <a:lnSpc>
                <a:spcPts val="1231"/>
              </a:lnSpc>
              <a:spcBef>
                <a:spcPts val="0"/>
              </a:spcBef>
              <a:spcAft>
                <a:spcPts val="0"/>
              </a:spcAft>
              <a:defRPr sz="1090" b="0">
                <a:solidFill>
                  <a:srgbClr val="56636D"/>
                </a:solidFill>
                <a:latin typeface="DejaVu Sans"/>
              </a:defRPr>
            </a:pPr>
            <a:r>
              <a:t>3δ: conservative bound</a:t>
            </a:r>
          </a:p>
        </p:txBody>
      </p:sp>
      <p:sp>
        <p:nvSpPr>
          <p:cNvPr id="47" name="Workflow arrow 5 to 6"/>
          <p:cNvSpPr/>
          <p:nvPr/>
        </p:nvSpPr>
        <p:spPr>
          <a:xfrm>
            <a:off x="11953036" y="2724912"/>
            <a:ext cx="96012" cy="210312"/>
          </a:xfrm>
          <a:prstGeom prst="chevron">
            <a:avLst/>
          </a:prstGeom>
          <a:solidFill>
            <a:srgbClr val="6875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tage 6: FUTURE"/>
          <p:cNvSpPr/>
          <p:nvPr/>
        </p:nvSpPr>
        <p:spPr>
          <a:xfrm>
            <a:off x="12070080" y="1737360"/>
            <a:ext cx="2194560" cy="2404872"/>
          </a:xfrm>
          <a:prstGeom prst="rect">
            <a:avLst/>
          </a:prstGeom>
          <a:solidFill>
            <a:srgbClr val="F5F6F7"/>
          </a:solidFill>
          <a:ln w="8255">
            <a:solidFill>
              <a:srgbClr val="8B949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Stage 6 status rail"/>
          <p:cNvSpPr/>
          <p:nvPr/>
        </p:nvSpPr>
        <p:spPr>
          <a:xfrm>
            <a:off x="12070080" y="1737360"/>
            <a:ext cx="2194560" cy="50292"/>
          </a:xfrm>
          <a:prstGeom prst="rect">
            <a:avLst/>
          </a:prstGeom>
          <a:solidFill>
            <a:srgbClr val="8B94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Stage 6 editable status icon"/>
          <p:cNvSpPr/>
          <p:nvPr/>
        </p:nvSpPr>
        <p:spPr>
          <a:xfrm>
            <a:off x="12179807" y="1874519"/>
            <a:ext cx="210312" cy="210312"/>
          </a:xfrm>
          <a:prstGeom prst="ellipse">
            <a:avLst/>
          </a:prstGeom>
          <a:solidFill>
            <a:srgbClr val="8B94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Editable text: ○"/>
          <p:cNvSpPr txBox="1"/>
          <p:nvPr/>
        </p:nvSpPr>
        <p:spPr>
          <a:xfrm>
            <a:off x="12179807" y="1871776"/>
            <a:ext cx="210312" cy="237744"/>
          </a:xfrm>
          <a:prstGeom prst="rect">
            <a:avLst/>
          </a:prstGeom>
          <a:noFill/>
        </p:spPr>
        <p:txBody>
          <a:bodyPr wrap="none" lIns="0" rIns="0" tIns="0" bIns="0" anchor="t">
            <a:noAutofit/>
          </a:bodyPr>
          <a:lstStyle/>
          <a:p>
            <a:pPr algn="ctr">
              <a:lnSpc>
                <a:spcPts val="1243"/>
              </a:lnSpc>
              <a:spcBef>
                <a:spcPts val="0"/>
              </a:spcBef>
              <a:spcAft>
                <a:spcPts val="0"/>
              </a:spcAft>
              <a:defRPr sz="1100" b="1">
                <a:solidFill>
                  <a:srgbClr val="FFFFFF"/>
                </a:solidFill>
                <a:latin typeface="DejaVu Sans"/>
              </a:defRPr>
            </a:pPr>
            <a:r>
              <a:t>○</a:t>
            </a:r>
          </a:p>
        </p:txBody>
      </p:sp>
      <p:sp>
        <p:nvSpPr>
          <p:cNvPr id="52" name="Editable text: 6  FUTURE"/>
          <p:cNvSpPr txBox="1"/>
          <p:nvPr/>
        </p:nvSpPr>
        <p:spPr>
          <a:xfrm>
            <a:off x="12463272" y="1892807"/>
            <a:ext cx="1746504" cy="219456"/>
          </a:xfrm>
          <a:prstGeom prst="rect">
            <a:avLst/>
          </a:prstGeom>
          <a:noFill/>
        </p:spPr>
        <p:txBody>
          <a:bodyPr wrap="none" lIns="0" rIns="0" tIns="0" bIns="0" anchor="t">
            <a:noAutofit/>
          </a:bodyPr>
          <a:lstStyle/>
          <a:p>
            <a:pPr algn="l">
              <a:lnSpc>
                <a:spcPts val="1243"/>
              </a:lnSpc>
              <a:spcBef>
                <a:spcPts val="0"/>
              </a:spcBef>
              <a:spcAft>
                <a:spcPts val="0"/>
              </a:spcAft>
              <a:defRPr sz="1100" b="1">
                <a:solidFill>
                  <a:srgbClr val="8B949D"/>
                </a:solidFill>
                <a:latin typeface="DejaVu Sans"/>
              </a:defRPr>
            </a:pPr>
            <a:r>
              <a:t>6 FUTURE</a:t>
            </a:r>
          </a:p>
        </p:txBody>
      </p:sp>
      <p:sp>
        <p:nvSpPr>
          <p:cNvPr id="53" name="Editable text: Physical Clot Simulation"/>
          <p:cNvSpPr txBox="1"/>
          <p:nvPr/>
        </p:nvSpPr>
        <p:spPr>
          <a:xfrm>
            <a:off x="12179807" y="2221991"/>
            <a:ext cx="1975104" cy="969264"/>
          </a:xfrm>
          <a:prstGeom prst="rect">
            <a:avLst/>
          </a:prstGeom>
          <a:noFill/>
        </p:spPr>
        <p:txBody>
          <a:bodyPr wrap="none" lIns="0" rIns="0" tIns="0" bIns="0" anchor="t">
            <a:noAutofit/>
          </a:bodyPr>
          <a:lstStyle/>
          <a:p>
            <a:pPr algn="l">
              <a:lnSpc>
                <a:spcPts val="1807"/>
              </a:lnSpc>
              <a:spcBef>
                <a:spcPts val="0"/>
              </a:spcBef>
              <a:spcAft>
                <a:spcPts val="0"/>
              </a:spcAft>
              <a:defRPr sz="1600" b="1">
                <a:solidFill>
                  <a:srgbClr val="8B949D"/>
                </a:solidFill>
                <a:latin typeface="DejaVu Sans"/>
              </a:defRPr>
            </a:pPr>
            <a:r>
              <a:t>Physical Clot</a:t>
            </a:r>
          </a:p>
          <a:p>
            <a:pPr algn="l">
              <a:lnSpc>
                <a:spcPts val="1807"/>
              </a:lnSpc>
              <a:spcBef>
                <a:spcPts val="0"/>
              </a:spcBef>
              <a:spcAft>
                <a:spcPts val="0"/>
              </a:spcAft>
              <a:defRPr sz="1600" b="1">
                <a:solidFill>
                  <a:srgbClr val="8B949D"/>
                </a:solidFill>
                <a:latin typeface="DejaVu Sans"/>
              </a:defRPr>
            </a:pPr>
            <a:r>
              <a:t>Simulation</a:t>
            </a:r>
          </a:p>
        </p:txBody>
      </p:sp>
      <p:sp>
        <p:nvSpPr>
          <p:cNvPr id="54" name="Editable text: Adhesion / detachment Damage / rupture Flow / microbubble load"/>
          <p:cNvSpPr txBox="1"/>
          <p:nvPr/>
        </p:nvSpPr>
        <p:spPr>
          <a:xfrm>
            <a:off x="12179807" y="3218688"/>
            <a:ext cx="1975104" cy="804672"/>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344B5B"/>
                </a:solidFill>
                <a:latin typeface="DejaVu Sans"/>
              </a:defRPr>
            </a:pPr>
            <a:r>
              <a:t>Adhesion / detachment</a:t>
            </a:r>
          </a:p>
          <a:p>
            <a:pPr algn="l">
              <a:lnSpc>
                <a:spcPts val="1355"/>
              </a:lnSpc>
              <a:spcBef>
                <a:spcPts val="0"/>
              </a:spcBef>
              <a:spcAft>
                <a:spcPts val="0"/>
              </a:spcAft>
              <a:defRPr sz="1200" b="0">
                <a:solidFill>
                  <a:srgbClr val="344B5B"/>
                </a:solidFill>
                <a:latin typeface="DejaVu Sans"/>
              </a:defRPr>
            </a:pPr>
            <a:r>
              <a:t>Damage / rupture</a:t>
            </a:r>
          </a:p>
          <a:p>
            <a:pPr algn="l">
              <a:lnSpc>
                <a:spcPts val="1355"/>
              </a:lnSpc>
              <a:spcBef>
                <a:spcPts val="0"/>
              </a:spcBef>
              <a:spcAft>
                <a:spcPts val="0"/>
              </a:spcAft>
              <a:defRPr sz="1200" b="0">
                <a:solidFill>
                  <a:srgbClr val="344B5B"/>
                </a:solidFill>
                <a:latin typeface="DejaVu Sans"/>
              </a:defRPr>
            </a:pPr>
            <a:r>
              <a:t>Flow / microbubble load</a:t>
            </a:r>
          </a:p>
        </p:txBody>
      </p:sp>
      <p:sp>
        <p:nvSpPr>
          <p:cNvPr id="55" name="Editable text: Future; not yet validated"/>
          <p:cNvSpPr txBox="1"/>
          <p:nvPr/>
        </p:nvSpPr>
        <p:spPr>
          <a:xfrm>
            <a:off x="12115800" y="4178808"/>
            <a:ext cx="2103120" cy="228600"/>
          </a:xfrm>
          <a:prstGeom prst="rect">
            <a:avLst/>
          </a:prstGeom>
          <a:noFill/>
        </p:spPr>
        <p:txBody>
          <a:bodyPr wrap="none" lIns="0" rIns="0" tIns="0" bIns="0" anchor="t">
            <a:noAutofit/>
          </a:bodyPr>
          <a:lstStyle/>
          <a:p>
            <a:pPr algn="l">
              <a:lnSpc>
                <a:spcPts val="1243"/>
              </a:lnSpc>
              <a:spcBef>
                <a:spcPts val="0"/>
              </a:spcBef>
              <a:spcAft>
                <a:spcPts val="0"/>
              </a:spcAft>
              <a:defRPr sz="1100" b="0">
                <a:solidFill>
                  <a:srgbClr val="747E86"/>
                </a:solidFill>
                <a:latin typeface="DejaVu Sans"/>
              </a:defRPr>
            </a:pPr>
            <a:r>
              <a:t>Future; not yet validated</a:t>
            </a:r>
          </a:p>
        </p:txBody>
      </p:sp>
      <p:sp>
        <p:nvSpPr>
          <p:cNvPr id="56" name="Editable text: BAQP + SPECTRAL MECHANICS + PETSc RSLS  |  Current audit: phase disabl"/>
          <p:cNvSpPr txBox="1"/>
          <p:nvPr/>
        </p:nvSpPr>
        <p:spPr>
          <a:xfrm>
            <a:off x="402336" y="4297680"/>
            <a:ext cx="9692640" cy="219456"/>
          </a:xfrm>
          <a:prstGeom prst="rect">
            <a:avLst/>
          </a:prstGeom>
          <a:noFill/>
        </p:spPr>
        <p:txBody>
          <a:bodyPr wrap="none" lIns="0" rIns="0" tIns="0" bIns="0" anchor="t">
            <a:noAutofit/>
          </a:bodyPr>
          <a:lstStyle/>
          <a:p>
            <a:pPr algn="l">
              <a:lnSpc>
                <a:spcPts val="1186"/>
              </a:lnSpc>
              <a:spcBef>
                <a:spcPts val="0"/>
              </a:spcBef>
              <a:spcAft>
                <a:spcPts val="0"/>
              </a:spcAft>
              <a:defRPr sz="1050" b="1">
                <a:solidFill>
                  <a:srgbClr val="667B8A"/>
                </a:solidFill>
                <a:latin typeface="DejaVu Sans"/>
              </a:defRPr>
            </a:pPr>
            <a:r>
              <a:t>BAQP + SPECTRAL MECHANICS + PETSc RSLS | Current audit: phase disabled</a:t>
            </a:r>
          </a:p>
        </p:txBody>
      </p:sp>
      <p:sp>
        <p:nvSpPr>
          <p:cNvPr id="57" name="Editable text: (a) Affine is not equilibrium"/>
          <p:cNvSpPr txBox="1"/>
          <p:nvPr/>
        </p:nvSpPr>
        <p:spPr>
          <a:xfrm>
            <a:off x="393192" y="4572000"/>
            <a:ext cx="3685032" cy="265176"/>
          </a:xfrm>
          <a:prstGeom prst="rect">
            <a:avLst/>
          </a:prstGeom>
          <a:noFill/>
        </p:spPr>
        <p:txBody>
          <a:bodyPr wrap="none" lIns="0" rIns="0" tIns="0" bIns="0" anchor="t">
            <a:noAutofit/>
          </a:bodyPr>
          <a:lstStyle/>
          <a:p>
            <a:pPr algn="l">
              <a:lnSpc>
                <a:spcPts val="1412"/>
              </a:lnSpc>
              <a:spcBef>
                <a:spcPts val="0"/>
              </a:spcBef>
              <a:spcAft>
                <a:spcPts val="0"/>
              </a:spcAft>
              <a:defRPr sz="1250" b="1">
                <a:solidFill>
                  <a:srgbClr val="344B5B"/>
                </a:solidFill>
                <a:latin typeface="DejaVu Sans"/>
              </a:defRPr>
            </a:pPr>
            <a:r>
              <a:t>(a) Affine is not equilibrium</a:t>
            </a:r>
          </a:p>
        </p:txBody>
      </p:sp>
      <p:pic>
        <p:nvPicPr>
          <p:cNvPr id="58" name="Picture 57" descr="layer_forces.png"/>
          <p:cNvPicPr>
            <a:picLocks noChangeAspect="1"/>
          </p:cNvPicPr>
          <p:nvPr/>
        </p:nvPicPr>
        <p:blipFill>
          <a:blip r:embed="rId2"/>
          <a:stretch>
            <a:fillRect/>
          </a:stretch>
        </p:blipFill>
        <p:spPr>
          <a:xfrm>
            <a:off x="365760" y="4864608"/>
            <a:ext cx="3703320" cy="1920240"/>
          </a:xfrm>
          <a:prstGeom prst="rect">
            <a:avLst/>
          </a:prstGeom>
        </p:spPr>
      </p:pic>
      <p:sp>
        <p:nvSpPr>
          <p:cNvPr id="59" name="Editable text: (b) Z-mediated force transfer"/>
          <p:cNvSpPr txBox="1"/>
          <p:nvPr/>
        </p:nvSpPr>
        <p:spPr>
          <a:xfrm>
            <a:off x="4370832" y="4572000"/>
            <a:ext cx="2953512" cy="265176"/>
          </a:xfrm>
          <a:prstGeom prst="rect">
            <a:avLst/>
          </a:prstGeom>
          <a:noFill/>
        </p:spPr>
        <p:txBody>
          <a:bodyPr wrap="none" lIns="0" rIns="0" tIns="0" bIns="0" anchor="t">
            <a:noAutofit/>
          </a:bodyPr>
          <a:lstStyle/>
          <a:p>
            <a:pPr algn="l">
              <a:lnSpc>
                <a:spcPts val="1412"/>
              </a:lnSpc>
              <a:spcBef>
                <a:spcPts val="0"/>
              </a:spcBef>
              <a:spcAft>
                <a:spcPts val="0"/>
              </a:spcAft>
              <a:defRPr sz="1250" b="1">
                <a:solidFill>
                  <a:srgbClr val="344B5B"/>
                </a:solidFill>
                <a:latin typeface="DejaVu Sans"/>
              </a:defRPr>
            </a:pPr>
            <a:r>
              <a:t>(b) Z-mediated force transfer</a:t>
            </a:r>
          </a:p>
        </p:txBody>
      </p:sp>
      <p:pic>
        <p:nvPicPr>
          <p:cNvPr id="60" name="Picture 59" descr="direct_Z.png"/>
          <p:cNvPicPr>
            <a:picLocks noChangeAspect="1"/>
          </p:cNvPicPr>
          <p:nvPr/>
        </p:nvPicPr>
        <p:blipFill>
          <a:blip r:embed="rId3"/>
          <a:stretch>
            <a:fillRect/>
          </a:stretch>
        </p:blipFill>
        <p:spPr>
          <a:xfrm>
            <a:off x="4343400" y="4864608"/>
            <a:ext cx="2971800" cy="1920240"/>
          </a:xfrm>
          <a:prstGeom prst="rect">
            <a:avLst/>
          </a:prstGeom>
        </p:spPr>
      </p:pic>
      <p:sp>
        <p:nvSpPr>
          <p:cNvPr id="61" name="Editable text: (c) L = 0.75 mm: full family"/>
          <p:cNvSpPr txBox="1"/>
          <p:nvPr/>
        </p:nvSpPr>
        <p:spPr>
          <a:xfrm>
            <a:off x="7616952" y="4572000"/>
            <a:ext cx="3410712" cy="265176"/>
          </a:xfrm>
          <a:prstGeom prst="rect">
            <a:avLst/>
          </a:prstGeom>
          <a:noFill/>
        </p:spPr>
        <p:txBody>
          <a:bodyPr wrap="none" lIns="0" rIns="0" tIns="0" bIns="0" anchor="t">
            <a:noAutofit/>
          </a:bodyPr>
          <a:lstStyle/>
          <a:p>
            <a:pPr algn="l">
              <a:lnSpc>
                <a:spcPts val="1412"/>
              </a:lnSpc>
              <a:spcBef>
                <a:spcPts val="0"/>
              </a:spcBef>
              <a:spcAft>
                <a:spcPts val="0"/>
              </a:spcAft>
              <a:defRPr sz="1250" b="1">
                <a:solidFill>
                  <a:srgbClr val="344B5B"/>
                </a:solidFill>
                <a:latin typeface="DejaVu Sans"/>
              </a:defRPr>
            </a:pPr>
            <a:r>
              <a:t>(c) L = 0.75 mm: full family</a:t>
            </a:r>
          </a:p>
        </p:txBody>
      </p:sp>
      <p:pic>
        <p:nvPicPr>
          <p:cNvPr id="62" name="Picture 61" descr="full_family.png"/>
          <p:cNvPicPr>
            <a:picLocks noChangeAspect="1"/>
          </p:cNvPicPr>
          <p:nvPr/>
        </p:nvPicPr>
        <p:blipFill>
          <a:blip r:embed="rId4"/>
          <a:stretch>
            <a:fillRect/>
          </a:stretch>
        </p:blipFill>
        <p:spPr>
          <a:xfrm>
            <a:off x="7589520" y="4864608"/>
            <a:ext cx="3429000" cy="1920240"/>
          </a:xfrm>
          <a:prstGeom prst="rect">
            <a:avLst/>
          </a:prstGeom>
        </p:spPr>
      </p:pic>
      <p:sp>
        <p:nvSpPr>
          <p:cNvPr id="63" name="Editable text: TARGET APPLICATION"/>
          <p:cNvSpPr txBox="1"/>
          <p:nvPr/>
        </p:nvSpPr>
        <p:spPr>
          <a:xfrm>
            <a:off x="11356848" y="4498848"/>
            <a:ext cx="2898648" cy="210312"/>
          </a:xfrm>
          <a:prstGeom prst="rect">
            <a:avLst/>
          </a:prstGeom>
          <a:noFill/>
        </p:spPr>
        <p:txBody>
          <a:bodyPr wrap="none" lIns="0" rIns="0" tIns="0" bIns="0" anchor="t">
            <a:noAutofit/>
          </a:bodyPr>
          <a:lstStyle/>
          <a:p>
            <a:pPr algn="l">
              <a:lnSpc>
                <a:spcPts val="1299"/>
              </a:lnSpc>
              <a:spcBef>
                <a:spcPts val="0"/>
              </a:spcBef>
              <a:spcAft>
                <a:spcPts val="0"/>
              </a:spcAft>
              <a:defRPr sz="1150" b="1">
                <a:solidFill>
                  <a:srgbClr val="687580"/>
                </a:solidFill>
                <a:latin typeface="DejaVu Sans"/>
              </a:defRPr>
            </a:pPr>
            <a:r>
              <a:t>TARGET APPLICATION</a:t>
            </a:r>
          </a:p>
        </p:txBody>
      </p:sp>
      <p:sp>
        <p:nvSpPr>
          <p:cNvPr id="64" name="Vessel lumen"/>
          <p:cNvSpPr/>
          <p:nvPr/>
        </p:nvSpPr>
        <p:spPr>
          <a:xfrm>
            <a:off x="11430000" y="4928616"/>
            <a:ext cx="2752344" cy="1042415"/>
          </a:xfrm>
          <a:prstGeom prst="rect">
            <a:avLst/>
          </a:prstGeom>
          <a:solidFill>
            <a:srgbClr val="FFFFFF"/>
          </a:solidFill>
          <a:ln w="8890">
            <a:solidFill>
              <a:srgbClr val="BCC6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Near-wall region"/>
          <p:cNvSpPr/>
          <p:nvPr/>
        </p:nvSpPr>
        <p:spPr>
          <a:xfrm>
            <a:off x="11430000" y="5705855"/>
            <a:ext cx="2752344" cy="265176"/>
          </a:xfrm>
          <a:prstGeom prst="rect">
            <a:avLst/>
          </a:prstGeom>
          <a:solidFill>
            <a:srgbClr val="EEF3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Flow direction arrow"/>
          <p:cNvSpPr/>
          <p:nvPr/>
        </p:nvSpPr>
        <p:spPr>
          <a:xfrm>
            <a:off x="11740896" y="5157216"/>
            <a:ext cx="2112264" cy="128016"/>
          </a:xfrm>
          <a:prstGeom prst="rightArrow">
            <a:avLst/>
          </a:prstGeom>
          <a:solidFill>
            <a:srgbClr val="4D73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Editable text: Flow"/>
          <p:cNvSpPr txBox="1"/>
          <p:nvPr/>
        </p:nvSpPr>
        <p:spPr>
          <a:xfrm>
            <a:off x="11722608" y="4946903"/>
            <a:ext cx="914400" cy="219456"/>
          </a:xfrm>
          <a:prstGeom prst="rect">
            <a:avLst/>
          </a:prstGeom>
          <a:noFill/>
        </p:spPr>
        <p:txBody>
          <a:bodyPr wrap="none" lIns="0" rIns="0" tIns="0" bIns="0" anchor="t">
            <a:noAutofit/>
          </a:bodyPr>
          <a:lstStyle/>
          <a:p>
            <a:pPr algn="l">
              <a:lnSpc>
                <a:spcPts val="1355"/>
              </a:lnSpc>
              <a:spcBef>
                <a:spcPts val="0"/>
              </a:spcBef>
              <a:spcAft>
                <a:spcPts val="0"/>
              </a:spcAft>
              <a:defRPr sz="1200" b="0">
                <a:solidFill>
                  <a:srgbClr val="4D738A"/>
                </a:solidFill>
                <a:latin typeface="DejaVu Sans"/>
              </a:defRPr>
            </a:pPr>
            <a:r>
              <a:t>Flow</a:t>
            </a:r>
          </a:p>
        </p:txBody>
      </p:sp>
      <p:sp>
        <p:nvSpPr>
          <p:cNvPr id="68" name="Attached clot native vector schematic"/>
          <p:cNvSpPr/>
          <p:nvPr/>
        </p:nvSpPr>
        <p:spPr>
          <a:xfrm>
            <a:off x="12271248" y="5495544"/>
            <a:ext cx="1024128" cy="411480"/>
          </a:xfrm>
          <a:custGeom>
            <a:avLst/>
            <a:gdLst/>
            <a:ahLst/>
            <a:cxnLst/>
            <a:rect l="l" t="t" r="r" b="b"/>
            <a:pathLst>
              <a:path w="1024128" h="411480">
                <a:moveTo>
                  <a:pt x="0" y="411480"/>
                </a:moveTo>
                <a:lnTo>
                  <a:pt x="4380" y="357771"/>
                </a:lnTo>
                <a:lnTo>
                  <a:pt x="17448" y="304981"/>
                </a:lnTo>
                <a:lnTo>
                  <a:pt x="38978" y="254013"/>
                </a:lnTo>
                <a:lnTo>
                  <a:pt x="68603" y="205740"/>
                </a:lnTo>
                <a:lnTo>
                  <a:pt x="105816" y="160986"/>
                </a:lnTo>
                <a:lnTo>
                  <a:pt x="149980" y="120519"/>
                </a:lnTo>
                <a:lnTo>
                  <a:pt x="200339" y="85030"/>
                </a:lnTo>
                <a:lnTo>
                  <a:pt x="256032" y="55127"/>
                </a:lnTo>
                <a:lnTo>
                  <a:pt x="316105" y="31322"/>
                </a:lnTo>
                <a:lnTo>
                  <a:pt x="379532" y="14020"/>
                </a:lnTo>
                <a:lnTo>
                  <a:pt x="445226" y="3520"/>
                </a:lnTo>
                <a:lnTo>
                  <a:pt x="512064" y="0"/>
                </a:lnTo>
                <a:lnTo>
                  <a:pt x="578901" y="3520"/>
                </a:lnTo>
                <a:lnTo>
                  <a:pt x="644595" y="14020"/>
                </a:lnTo>
                <a:lnTo>
                  <a:pt x="708022" y="31322"/>
                </a:lnTo>
                <a:lnTo>
                  <a:pt x="768096" y="55127"/>
                </a:lnTo>
                <a:lnTo>
                  <a:pt x="823788" y="85030"/>
                </a:lnTo>
                <a:lnTo>
                  <a:pt x="874147" y="120519"/>
                </a:lnTo>
                <a:lnTo>
                  <a:pt x="918311" y="160986"/>
                </a:lnTo>
                <a:lnTo>
                  <a:pt x="955524" y="205740"/>
                </a:lnTo>
                <a:lnTo>
                  <a:pt x="985149" y="254013"/>
                </a:lnTo>
                <a:lnTo>
                  <a:pt x="1006679" y="304981"/>
                </a:lnTo>
                <a:lnTo>
                  <a:pt x="1019747" y="357771"/>
                </a:lnTo>
                <a:lnTo>
                  <a:pt x="1024128" y="411480"/>
                </a:lnTo>
                <a:close/>
              </a:path>
            </a:pathLst>
          </a:custGeom>
          <a:solidFill>
            <a:srgbClr val="A6BDC9"/>
          </a:solidFill>
          <a:ln w="10160">
            <a:solidFill>
              <a:srgbClr val="5273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Vessel wall"/>
          <p:cNvSpPr/>
          <p:nvPr/>
        </p:nvSpPr>
        <p:spPr>
          <a:xfrm>
            <a:off x="11430000" y="5907024"/>
            <a:ext cx="2752344" cy="164592"/>
          </a:xfrm>
          <a:prstGeom prst="rect">
            <a:avLst/>
          </a:prstGeom>
          <a:solidFill>
            <a:srgbClr val="BDC7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Editable text: Attached clot"/>
          <p:cNvSpPr txBox="1"/>
          <p:nvPr/>
        </p:nvSpPr>
        <p:spPr>
          <a:xfrm>
            <a:off x="12874752" y="5340096"/>
            <a:ext cx="1371600" cy="219456"/>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344A58"/>
                </a:solidFill>
                <a:latin typeface="DejaVu Sans"/>
              </a:defRPr>
            </a:pPr>
            <a:r>
              <a:t>Attached clot</a:t>
            </a:r>
          </a:p>
        </p:txBody>
      </p:sp>
      <p:cxnSp>
        <p:nvCxnSpPr>
          <p:cNvPr id="71" name="Connector 70"/>
          <p:cNvCxnSpPr/>
          <p:nvPr/>
        </p:nvCxnSpPr>
        <p:spPr>
          <a:xfrm flipH="1">
            <a:off x="12847320" y="5568696"/>
            <a:ext cx="91440" cy="82296"/>
          </a:xfrm>
          <a:prstGeom prst="line">
            <a:avLst/>
          </a:prstGeom>
          <a:ln w="8890">
            <a:solidFill>
              <a:srgbClr val="687580"/>
            </a:solidFill>
          </a:ln>
          <a:effectLst/>
        </p:spPr>
        <p:style>
          <a:lnRef idx="2">
            <a:schemeClr val="accent1"/>
          </a:lnRef>
          <a:fillRef idx="0">
            <a:schemeClr val="accent1"/>
          </a:fillRef>
          <a:effectRef idx="0">
            <a:schemeClr val="accent1"/>
          </a:effectRef>
          <a:fontRef idx="minor">
            <a:schemeClr val="tx1"/>
          </a:fontRef>
        </p:style>
      </p:cxnSp>
      <p:sp>
        <p:nvSpPr>
          <p:cNvPr id="72" name="Editable text: Near-wall region"/>
          <p:cNvSpPr txBox="1"/>
          <p:nvPr/>
        </p:nvSpPr>
        <p:spPr>
          <a:xfrm>
            <a:off x="11475720" y="5486400"/>
            <a:ext cx="822960" cy="365760"/>
          </a:xfrm>
          <a:prstGeom prst="rect">
            <a:avLst/>
          </a:prstGeom>
          <a:noFill/>
        </p:spPr>
        <p:txBody>
          <a:bodyPr wrap="none" lIns="0" rIns="0" tIns="0" bIns="0" anchor="t">
            <a:noAutofit/>
          </a:bodyPr>
          <a:lstStyle/>
          <a:p>
            <a:pPr algn="l">
              <a:lnSpc>
                <a:spcPts val="1243"/>
              </a:lnSpc>
              <a:spcBef>
                <a:spcPts val="0"/>
              </a:spcBef>
              <a:spcAft>
                <a:spcPts val="0"/>
              </a:spcAft>
              <a:defRPr sz="1100" b="0">
                <a:solidFill>
                  <a:srgbClr val="5A6B76"/>
                </a:solidFill>
                <a:latin typeface="DejaVu Sans"/>
              </a:defRPr>
            </a:pPr>
            <a:r>
              <a:t>Near-wall</a:t>
            </a:r>
          </a:p>
          <a:p>
            <a:pPr algn="l">
              <a:lnSpc>
                <a:spcPts val="1243"/>
              </a:lnSpc>
              <a:spcBef>
                <a:spcPts val="0"/>
              </a:spcBef>
              <a:spcAft>
                <a:spcPts val="0"/>
              </a:spcAft>
              <a:defRPr sz="1100" b="0">
                <a:solidFill>
                  <a:srgbClr val="5A6B76"/>
                </a:solidFill>
                <a:latin typeface="DejaVu Sans"/>
              </a:defRPr>
            </a:pPr>
            <a:r>
              <a:t>region</a:t>
            </a:r>
          </a:p>
        </p:txBody>
      </p:sp>
      <p:sp>
        <p:nvSpPr>
          <p:cNvPr id="73" name="Editable text: Vessel wall"/>
          <p:cNvSpPr txBox="1"/>
          <p:nvPr/>
        </p:nvSpPr>
        <p:spPr>
          <a:xfrm>
            <a:off x="11484864" y="6044183"/>
            <a:ext cx="1417320" cy="210312"/>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5A6B76"/>
                </a:solidFill>
                <a:latin typeface="DejaVu Sans"/>
              </a:defRPr>
            </a:pPr>
            <a:r>
              <a:t>Vessel wall</a:t>
            </a:r>
          </a:p>
        </p:txBody>
      </p:sp>
      <p:sp>
        <p:nvSpPr>
          <p:cNvPr id="74" name="Editable text: Target application: mechanically interpretable clot-wall failure"/>
          <p:cNvSpPr txBox="1"/>
          <p:nvPr/>
        </p:nvSpPr>
        <p:spPr>
          <a:xfrm>
            <a:off x="11356848" y="6309359"/>
            <a:ext cx="2898648" cy="502920"/>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52606B"/>
                </a:solidFill>
                <a:latin typeface="DejaVu Sans"/>
              </a:defRPr>
            </a:pPr>
            <a:r>
              <a:t>Target application:</a:t>
            </a:r>
          </a:p>
          <a:p>
            <a:pPr algn="l">
              <a:lnSpc>
                <a:spcPts val="1299"/>
              </a:lnSpc>
              <a:spcBef>
                <a:spcPts val="0"/>
              </a:spcBef>
              <a:spcAft>
                <a:spcPts val="0"/>
              </a:spcAft>
              <a:defRPr sz="1150" b="0">
                <a:solidFill>
                  <a:srgbClr val="52606B"/>
                </a:solidFill>
                <a:latin typeface="DejaVu Sans"/>
              </a:defRPr>
            </a:pPr>
            <a:r>
              <a:t>mechanically interpretable</a:t>
            </a:r>
          </a:p>
          <a:p>
            <a:pPr algn="l">
              <a:lnSpc>
                <a:spcPts val="1299"/>
              </a:lnSpc>
              <a:spcBef>
                <a:spcPts val="0"/>
              </a:spcBef>
              <a:spcAft>
                <a:spcPts val="0"/>
              </a:spcAft>
              <a:defRPr sz="1150" b="0">
                <a:solidFill>
                  <a:srgbClr val="52606B"/>
                </a:solidFill>
                <a:latin typeface="DejaVu Sans"/>
              </a:defRPr>
            </a:pPr>
            <a:r>
              <a:t>clot-wall failure</a:t>
            </a:r>
          </a:p>
        </p:txBody>
      </p:sp>
      <p:sp>
        <p:nvSpPr>
          <p:cNvPr id="75" name="Editable text: Activation ≠ fracture  •  Stationary ≠ stable  •  Self-family complete"/>
          <p:cNvSpPr txBox="1"/>
          <p:nvPr/>
        </p:nvSpPr>
        <p:spPr>
          <a:xfrm>
            <a:off x="438912" y="6839712"/>
            <a:ext cx="13716000" cy="228600"/>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596D7A"/>
                </a:solidFill>
                <a:latin typeface="DejaVu Sans"/>
              </a:defRPr>
            </a:pPr>
            <a:r>
              <a:t>Activation ≠ fracture • Stationary ≠ stable • Self-family complete ≠ force-stencil isolated</a:t>
            </a:r>
          </a:p>
        </p:txBody>
      </p:sp>
      <p:sp>
        <p:nvSpPr>
          <p:cNvPr id="76" name="Progress: Verified Mechanics"/>
          <p:cNvSpPr/>
          <p:nvPr/>
        </p:nvSpPr>
        <p:spPr>
          <a:xfrm>
            <a:off x="411480" y="7232904"/>
            <a:ext cx="4434840" cy="402336"/>
          </a:xfrm>
          <a:prstGeom prst="rect">
            <a:avLst/>
          </a:prstGeom>
          <a:solidFill>
            <a:srgbClr val="E8F1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Editable text: Verified Mechanics"/>
          <p:cNvSpPr txBox="1"/>
          <p:nvPr/>
        </p:nvSpPr>
        <p:spPr>
          <a:xfrm>
            <a:off x="466344" y="7310628"/>
            <a:ext cx="4325112" cy="274320"/>
          </a:xfrm>
          <a:prstGeom prst="rect">
            <a:avLst/>
          </a:prstGeom>
          <a:noFill/>
        </p:spPr>
        <p:txBody>
          <a:bodyPr wrap="none" lIns="0" rIns="0" tIns="0" bIns="0" anchor="t">
            <a:noAutofit/>
          </a:bodyPr>
          <a:lstStyle/>
          <a:p>
            <a:pPr algn="ctr">
              <a:lnSpc>
                <a:spcPts val="1695"/>
              </a:lnSpc>
              <a:spcBef>
                <a:spcPts val="0"/>
              </a:spcBef>
              <a:spcAft>
                <a:spcPts val="0"/>
              </a:spcAft>
              <a:defRPr sz="1500" b="1">
                <a:solidFill>
                  <a:srgbClr val="0072B2"/>
                </a:solidFill>
                <a:latin typeface="DejaVu Sans"/>
              </a:defRPr>
            </a:pPr>
            <a:r>
              <a:t>Verified Mechanics</a:t>
            </a:r>
          </a:p>
        </p:txBody>
      </p:sp>
      <p:sp>
        <p:nvSpPr>
          <p:cNvPr id="78" name="Progress arrow"/>
          <p:cNvSpPr/>
          <p:nvPr/>
        </p:nvSpPr>
        <p:spPr>
          <a:xfrm>
            <a:off x="4919472" y="7347204"/>
            <a:ext cx="109728" cy="173736"/>
          </a:xfrm>
          <a:prstGeom prst="chevron">
            <a:avLst/>
          </a:prstGeom>
          <a:solidFill>
            <a:srgbClr val="6D7B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Progress: Boundary Root-Cause Resolution"/>
          <p:cNvSpPr/>
          <p:nvPr/>
        </p:nvSpPr>
        <p:spPr>
          <a:xfrm>
            <a:off x="5093208" y="7232904"/>
            <a:ext cx="4434840" cy="402336"/>
          </a:xfrm>
          <a:prstGeom prst="rect">
            <a:avLst/>
          </a:prstGeom>
          <a:solidFill>
            <a:srgbClr val="FCE6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Editable text: Boundary Root-Cause Resolution"/>
          <p:cNvSpPr txBox="1"/>
          <p:nvPr/>
        </p:nvSpPr>
        <p:spPr>
          <a:xfrm>
            <a:off x="5148072" y="7310628"/>
            <a:ext cx="4325112" cy="274320"/>
          </a:xfrm>
          <a:prstGeom prst="rect">
            <a:avLst/>
          </a:prstGeom>
          <a:noFill/>
        </p:spPr>
        <p:txBody>
          <a:bodyPr wrap="none" lIns="0" rIns="0" tIns="0" bIns="0" anchor="t">
            <a:noAutofit/>
          </a:bodyPr>
          <a:lstStyle/>
          <a:p>
            <a:pPr algn="ctr">
              <a:lnSpc>
                <a:spcPts val="1695"/>
              </a:lnSpc>
              <a:spcBef>
                <a:spcPts val="0"/>
              </a:spcBef>
              <a:spcAft>
                <a:spcPts val="0"/>
              </a:spcAft>
              <a:defRPr sz="1500" b="1">
                <a:solidFill>
                  <a:srgbClr val="A6510D"/>
                </a:solidFill>
                <a:latin typeface="DejaVu Sans"/>
              </a:defRPr>
            </a:pPr>
            <a:r>
              <a:t>Boundary Root-Cause Resolution</a:t>
            </a:r>
          </a:p>
        </p:txBody>
      </p:sp>
      <p:sp>
        <p:nvSpPr>
          <p:cNvPr id="81" name="Progress arrow"/>
          <p:cNvSpPr/>
          <p:nvPr/>
        </p:nvSpPr>
        <p:spPr>
          <a:xfrm>
            <a:off x="9601200" y="7347204"/>
            <a:ext cx="109728" cy="173736"/>
          </a:xfrm>
          <a:prstGeom prst="chevron">
            <a:avLst/>
          </a:prstGeom>
          <a:solidFill>
            <a:srgbClr val="6D7B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Progress: Physical Clot Modeling"/>
          <p:cNvSpPr/>
          <p:nvPr/>
        </p:nvSpPr>
        <p:spPr>
          <a:xfrm>
            <a:off x="9784080" y="7232904"/>
            <a:ext cx="4434840" cy="402336"/>
          </a:xfrm>
          <a:prstGeom prst="rect">
            <a:avLst/>
          </a:prstGeom>
          <a:solidFill>
            <a:srgbClr val="EEF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Editable text: Physical Clot Modeling"/>
          <p:cNvSpPr txBox="1"/>
          <p:nvPr/>
        </p:nvSpPr>
        <p:spPr>
          <a:xfrm>
            <a:off x="9838944" y="7310628"/>
            <a:ext cx="4325112" cy="274320"/>
          </a:xfrm>
          <a:prstGeom prst="rect">
            <a:avLst/>
          </a:prstGeom>
          <a:noFill/>
        </p:spPr>
        <p:txBody>
          <a:bodyPr wrap="none" lIns="0" rIns="0" tIns="0" bIns="0" anchor="t">
            <a:noAutofit/>
          </a:bodyPr>
          <a:lstStyle/>
          <a:p>
            <a:pPr algn="ctr">
              <a:lnSpc>
                <a:spcPts val="1695"/>
              </a:lnSpc>
              <a:spcBef>
                <a:spcPts val="0"/>
              </a:spcBef>
              <a:spcAft>
                <a:spcPts val="0"/>
              </a:spcAft>
              <a:defRPr sz="1500" b="1">
                <a:solidFill>
                  <a:srgbClr val="75818B"/>
                </a:solidFill>
                <a:latin typeface="DejaVu Sans"/>
              </a:defRPr>
            </a:pPr>
            <a:r>
              <a:t>Physical Clot Modeling</a:t>
            </a:r>
          </a:p>
        </p:txBody>
      </p:sp>
      <p:sp>
        <p:nvSpPr>
          <p:cNvPr id="84" name="Editable text: Current bottleneck: separating finite-domain boundary influence from t"/>
          <p:cNvSpPr txBox="1"/>
          <p:nvPr/>
        </p:nvSpPr>
        <p:spPr>
          <a:xfrm>
            <a:off x="438912" y="7763256"/>
            <a:ext cx="13716000" cy="265176"/>
          </a:xfrm>
          <a:prstGeom prst="rect">
            <a:avLst/>
          </a:prstGeom>
          <a:noFill/>
        </p:spPr>
        <p:txBody>
          <a:bodyPr wrap="none" lIns="0" rIns="0" tIns="0" bIns="0" anchor="t">
            <a:noAutofit/>
          </a:bodyPr>
          <a:lstStyle/>
          <a:p>
            <a:pPr algn="l">
              <a:lnSpc>
                <a:spcPts val="1581"/>
              </a:lnSpc>
              <a:spcBef>
                <a:spcPts val="0"/>
              </a:spcBef>
              <a:spcAft>
                <a:spcPts val="0"/>
              </a:spcAft>
              <a:defRPr sz="1400" b="1">
                <a:solidFill>
                  <a:srgbClr val="344B5B"/>
                </a:solidFill>
                <a:latin typeface="DejaVu Sans"/>
              </a:defRPr>
            </a:pPr>
            <a:r>
              <a:t>Current bottleneck: separating finite-domain boundary influence from true bulk operator behavior.</a:t>
            </a:r>
          </a:p>
        </p:txBody>
      </p:sp>
      <p:sp>
        <p:nvSpPr>
          <p:cNvPr id="85" name="Editable text: Next: fully closed 3δ force-stencil affine patch test."/>
          <p:cNvSpPr txBox="1"/>
          <p:nvPr/>
        </p:nvSpPr>
        <p:spPr>
          <a:xfrm>
            <a:off x="438912" y="7991856"/>
            <a:ext cx="13716000" cy="210312"/>
          </a:xfrm>
          <a:prstGeom prst="rect">
            <a:avLst/>
          </a:prstGeom>
          <a:noFill/>
        </p:spPr>
        <p:txBody>
          <a:bodyPr wrap="none" lIns="0" rIns="0" tIns="0" bIns="0" anchor="t">
            <a:noAutofit/>
          </a:bodyPr>
          <a:lstStyle/>
          <a:p>
            <a:pPr algn="l">
              <a:lnSpc>
                <a:spcPts val="1299"/>
              </a:lnSpc>
              <a:spcBef>
                <a:spcPts val="0"/>
              </a:spcBef>
              <a:spcAft>
                <a:spcPts val="0"/>
              </a:spcAft>
              <a:defRPr sz="1150" b="0">
                <a:solidFill>
                  <a:srgbClr val="526879"/>
                </a:solidFill>
                <a:latin typeface="DejaVu Sans"/>
              </a:defRPr>
            </a:pPr>
            <a:r>
              <a:t>Next: fully closed 3δ force-stencil affine patch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Workflow and Current Progress: From Nonlocal Operator Audit to Clot Simulation</dc:title>
  <dc:subject>Current evidence and next experiment; no new numerical simulation</dc:subject>
  <dc:creator>Clot CFD–PD / PFPD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