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500 条独立有限尺寸微泡轨迹。使用固定入口位置、条件化粒径接纳方案。彩色为到达出口的路径，灰色为停止时保存的路径。颜色表示微泡速度；浅色球保持真实半径。完整血管图用于交代空间关系。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完整血管：旋转与微泡运动。视频已内嵌，放映时点击画面播放。前两段视频将独立轨迹的年龄错开叠加以便观察，不代表同一时刻的真实浓度或共同注入过程。 所有位置来自保存样本的分段线性插值，无延长路径，无球径放大。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分叉特写：微泡及轨迹。视频已内嵌，放映时点击画面播放。前两段视频将独立轨迹的年龄错开叠加以便观察，不代表同一时刻的真实浓度或共同注入过程。 所有位置来自保存样本的分段线性插值，无延长路径，无球径放大。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微泡：保存路径的慢速回放。视频已内嵌，放映时点击画面播放。这一段只播放一条保存的实际轨迹，画面底部显示自出生起的物理时间，播放时间经过拉长。为展示完整长路径，球在全长视图中较小；真实尺寸可结合分叉特写理解。 所有位置来自保存样本的分段线性插值，无延长路径，无球径放大。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同一批 500 条路径的四个观察角度。旋转相机，物理坐标和血管比例不变。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本稿只展示一种方案，不包含方法对照。500 个 ID 按原始已接纳事件顺序选择，未按出口或完成与否挑选。安全停止及时间上限不能解释为生理性滞留。未改用独立的 2.0 mm/s 流场。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_full_vessel_microbubble_tr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1_full_vessel_microbubble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2_branch_microbubble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3_single_microbubble_journey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_multi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>
                <a:solidFill>
                  <a:srgbClr val="EEF2F8"/>
                </a:solidFill>
                <a:latin typeface="Microsoft YaHei"/>
              </a:defRPr>
            </a:pPr>
            <a:r>
              <a:t>500 条微泡轨迹｜展示数据说明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800">
                <a:solidFill>
                  <a:srgbClr val="77DCC9"/>
                </a:solidFill>
                <a:latin typeface="Microsoft YaHei"/>
              </a:defRPr>
            </a:pPr>
            <a:r>
              <a:t>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482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AC5D3"/>
                </a:solidFill>
                <a:latin typeface="Microsoft YaHei"/>
              </a:defRPr>
            </a:pPr>
            <a:r>
              <a:t>已计算轨迹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188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800">
                <a:solidFill>
                  <a:srgbClr val="77DCC9"/>
                </a:solidFill>
                <a:latin typeface="Microsoft YaHei"/>
              </a:defRPr>
            </a:pPr>
            <a:r>
              <a:t>424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0482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AC5D3"/>
                </a:solidFill>
                <a:latin typeface="Microsoft YaHei"/>
              </a:defRPr>
            </a:pPr>
            <a:r>
              <a:t>到达出口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188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800">
                <a:solidFill>
                  <a:srgbClr val="77DCC9"/>
                </a:solidFill>
                <a:latin typeface="Microsoft YaHei"/>
              </a:defRPr>
            </a:pPr>
            <a: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0482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AC5D3"/>
                </a:solidFill>
                <a:latin typeface="Microsoft YaHei"/>
              </a:defRPr>
            </a:pPr>
            <a:r>
              <a:t>尚未到达出口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1064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EF2F8"/>
                </a:solidFill>
                <a:latin typeface="Microsoft YaHei"/>
              </a:defRPr>
            </a:pPr>
            <a:r>
              <a:t>出口 01 / 02 / 03：0 / 421 / 3 条</a:t>
            </a:r>
          </a:p>
          <a:p>
            <a:pPr>
              <a:spcAft>
                <a:spcPts val="1200"/>
              </a:spcAft>
              <a:defRPr sz="2200">
                <a:solidFill>
                  <a:srgbClr val="EEF2F8"/>
                </a:solidFill>
                <a:latin typeface="Microsoft YaHei"/>
              </a:defRPr>
            </a:pPr>
            <a:r>
              <a:t>安全停止 55 条；达到时间上限 21 条</a:t>
            </a:r>
          </a:p>
          <a:p>
            <a:pPr>
              <a:spcAft>
                <a:spcPts val="1200"/>
              </a:spcAft>
              <a:defRPr sz="2200">
                <a:solidFill>
                  <a:srgbClr val="EEF2F8"/>
                </a:solidFill>
                <a:latin typeface="Microsoft YaHei"/>
              </a:defRPr>
            </a:pPr>
            <a:r>
              <a:t>固定入口位置，粒径经局部可接纳条件筛选；不代表原始粒径总体</a:t>
            </a:r>
          </a:p>
          <a:p>
            <a:pPr>
              <a:spcAft>
                <a:spcPts val="1200"/>
              </a:spcAft>
              <a:defRPr sz="2200">
                <a:solidFill>
                  <a:srgbClr val="EEF2F8"/>
                </a:solidFill>
                <a:latin typeface="Microsoft YaHei"/>
              </a:defRPr>
            </a:pPr>
            <a:r>
              <a:t>背景沿用原冻结流场：入口平均速度 0.353 mm/s</a:t>
            </a:r>
          </a:p>
          <a:p>
            <a:pPr>
              <a:spcAft>
                <a:spcPts val="1200"/>
              </a:spcAft>
              <a:defRPr sz="2200">
                <a:solidFill>
                  <a:srgbClr val="EEF2F8"/>
                </a:solidFill>
                <a:latin typeface="Microsoft YaHei"/>
              </a:defRPr>
            </a:pPr>
            <a:r>
              <a:t>前两段为独立轨迹错时叠加；第三段显示单条轨迹的实际年龄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