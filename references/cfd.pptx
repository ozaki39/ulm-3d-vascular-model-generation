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4f6e343ff146a8" /><Relationship Type="http://schemas.openxmlformats.org/officeDocument/2006/relationships/extended-properties" Target="/docProps/app.xml" Id="R6f82cb6e68c64741" /><Relationship Type="http://schemas.openxmlformats.org/officeDocument/2006/relationships/officeDocument" Target="/ppt/presentation.xml" Id="R2504ead8d8604a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339113e1e04fe2"/>
  </p:sldMasterIdLst>
  <p:notesMasterIdLst>
    <p:notesMasterId xmlns:r="http://schemas.openxmlformats.org/officeDocument/2006/relationships" r:id="Rfbc281e48ce74141"/>
  </p:notesMasterIdLst>
  <p:sldIdLst>
    <p:sldId xmlns:r="http://schemas.openxmlformats.org/officeDocument/2006/relationships" id="256" r:id="R28b50a3294684117"/>
    <p:sldId xmlns:r="http://schemas.openxmlformats.org/officeDocument/2006/relationships" id="257" r:id="Rf751a792772e4f88"/>
    <p:sldId xmlns:r="http://schemas.openxmlformats.org/officeDocument/2006/relationships" id="258" r:id="R4e278c754cf84407"/>
    <p:sldId xmlns:r="http://schemas.openxmlformats.org/officeDocument/2006/relationships" id="259" r:id="Rf6d9eb6895924286"/>
    <p:sldId xmlns:r="http://schemas.openxmlformats.org/officeDocument/2006/relationships" id="260" r:id="R0d5d3f5762e241c8"/>
    <p:sldId xmlns:r="http://schemas.openxmlformats.org/officeDocument/2006/relationships" id="261" r:id="R1aa37cfb9def4774"/>
    <p:sldId xmlns:r="http://schemas.openxmlformats.org/officeDocument/2006/relationships" id="262" r:id="R9a56d701312c46a5"/>
    <p:sldId xmlns:r="http://schemas.openxmlformats.org/officeDocument/2006/relationships" id="263" r:id="R0800de6c82ca427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a840d09fc44446" /><Relationship Type="http://schemas.openxmlformats.org/officeDocument/2006/relationships/slideMaster" Target="/ppt/slideMasters/slideMaster1.xml" Id="R09339113e1e04fe2" /><Relationship Type="http://schemas.openxmlformats.org/officeDocument/2006/relationships/notesMaster" Target="/ppt/notesMasters/notesMaster1.xml" Id="Rfbc281e48ce74141" /><Relationship Type="http://schemas.openxmlformats.org/officeDocument/2006/relationships/presProps" Target="/ppt/presProps.xml" Id="Rab4a2c9926c445db" /><Relationship Type="http://schemas.openxmlformats.org/officeDocument/2006/relationships/tableStyles" Target="/ppt/tableStyles.xml" Id="Rade61e65631a455f" /><Relationship Type="http://schemas.openxmlformats.org/officeDocument/2006/relationships/slide" Target="/ppt/slides/slide1.xml" Id="R28b50a3294684117" /><Relationship Type="http://schemas.openxmlformats.org/officeDocument/2006/relationships/slide" Target="/ppt/slides/slide2.xml" Id="Rf751a792772e4f88" /><Relationship Type="http://schemas.openxmlformats.org/officeDocument/2006/relationships/slide" Target="/ppt/slides/slide3.xml" Id="R4e278c754cf84407" /><Relationship Type="http://schemas.openxmlformats.org/officeDocument/2006/relationships/slide" Target="/ppt/slides/slide4.xml" Id="Rf6d9eb6895924286" /><Relationship Type="http://schemas.openxmlformats.org/officeDocument/2006/relationships/slide" Target="/ppt/slides/slide5.xml" Id="R0d5d3f5762e241c8" /><Relationship Type="http://schemas.openxmlformats.org/officeDocument/2006/relationships/slide" Target="/ppt/slides/slide6.xml" Id="R1aa37cfb9def4774" /><Relationship Type="http://schemas.openxmlformats.org/officeDocument/2006/relationships/slide" Target="/ppt/slides/slide7.xml" Id="R9a56d701312c46a5" /><Relationship Type="http://schemas.openxmlformats.org/officeDocument/2006/relationships/slide" Target="/ppt/slides/slide8.xml" Id="R0800de6c82ca42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de9432b81a49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8e4e919d97489b" /><Relationship Type="http://schemas.openxmlformats.org/officeDocument/2006/relationships/notesMaster" Target="/ppt/notesMasters/notesMaster1.xml" Id="Rd6865e7b636847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5404958e3346d6" /><Relationship Type="http://schemas.openxmlformats.org/officeDocument/2006/relationships/notesMaster" Target="/ppt/notesMasters/notesMaster1.xml" Id="R64f22e8e483843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0f73d8d00147d0" /><Relationship Type="http://schemas.openxmlformats.org/officeDocument/2006/relationships/notesMaster" Target="/ppt/notesMasters/notesMaster1.xml" Id="R9b49a0e4a61d40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b133fb24f04ab5" /><Relationship Type="http://schemas.openxmlformats.org/officeDocument/2006/relationships/notesMaster" Target="/ppt/notesMasters/notesMaster1.xml" Id="R0f966b25d22541d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334ac9a50344a0" /><Relationship Type="http://schemas.openxmlformats.org/officeDocument/2006/relationships/notesMaster" Target="/ppt/notesMasters/notesMaster1.xml" Id="Rdafb51a9f74244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ed6498b11d4ec4" /><Relationship Type="http://schemas.openxmlformats.org/officeDocument/2006/relationships/notesMaster" Target="/ppt/notesMasters/notesMaster1.xml" Id="R404d2e292ee043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784db2eee447ac" /><Relationship Type="http://schemas.openxmlformats.org/officeDocument/2006/relationships/notesMaster" Target="/ppt/notesMasters/notesMaster1.xml" Id="Rec2b91b6948849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d13a9c9134849a2" /><Relationship Type="http://schemas.openxmlformats.org/officeDocument/2006/relationships/notesMaster" Target="/ppt/notesMasters/notesMaster1.xml" Id="Rd826ac7a401e49c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https://github.com/OZAKI39/ulm-3d-vascular-model-generation/blob/codex/cfd-wall-force-numerics-validated-sync-20260830/outputs/cfd_flow/production_tau1_base_promotion_anchor003274_20260902_013637/flow/production_steady_flow_field_manifest.json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https://github.com/OZAKI39/ulm-3d-vascular-model-generation/blob/codex/cfd-wall-force-numerics-validated-sync-20260830/outputs/cfd_flow/production_tau1_base_promotion_anchor003274_20260902_013637/visualization/interactive_v3_redesign/01_after_velocity_overview.json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https://github.com/OZAKI39/ulm-3d-vascular-model-generation/blob/codex/cfd-wall-force-numerics-validated-sync-20260830/outputs/cfd_preprocess/global_to_roi_anchor003274_20260825_183628/qc/run_summary.json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https://github.com/OZAKI39/ulm-3d-vascular-model-generation/blob/codex/cfd-wall-force-numerics-validated-sync-20260830/outputs/cfd_surface_prepare/vmtk_tps_boundarynormal_crossseam_finalized_recovery_anchor003274_20260826_221611/qc/final_surface_qc.json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https://github.com/OZAKI39/ulm-3d-vascular-model-generation/blob/codex/cfd-wall-force-numerics-validated-sync-20260830/outputs/cfd_flow/production_tau1_base_promotion_anchor003274_20260902_013637/qc/run_summary.json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https://github.com/OZAKI39/ulm-3d-vascular-model-generation/blob/codex/cfd-wall-force-numerics-validated-sync-20260830/outputs/cfd_preprocess/global_to_roi_anchor003274_20260825_183628/qc/run_summary.json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https://github.com/OZAKI39/ulm-3d-vascular-model-generation/blob/codex/cfd-wall-force-numerics-validated-sync-20260830/outputs/cfd_preprocess/global_to_roi_anchor003274_20260825_183628/qc/port_transfer_qc.json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https://github.com/OZAKI39/ulm-3d-vascular-model-generation/blob/codex/cfd-wall-force-numerics-validated-sync-20260830/outputs/model_generate/ultraliser_anchor003274_20260825_133350/geometry/lumen_surface_um.vtp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surface_prepare/vmtk_tps_boundarynormal_crossseam_finalized_recovery_anchor003274_20260826_221611/geometry/cfd_surface_vmtk_tps_boundarynormal_crossseam_um.vtp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https://github.com/OZAKI39/ulm-3d-vascular-model-generation/blob/codex/cfd-wall-force-numerics-validated-sync-20260830/outputs/cfd_surface_prepare/vmtk_tps_boundarynormal_crossseam_finalized_recovery_anchor003274_20260826_221611/qc/final_surface_qc.json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https://github.com/OZAKI39/ulm-3d-vascular-model-generation/blob/codex/cfd-wall-force-numerics-validated-sync-20260830/outputs/cfd_flow/production_tau1_base_promotion_anchor003274_20260902_013637/input/production_numerical_contract.json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https://github.com/OZAKI39/ulm-3d-vascular-model-generation/blob/codex/cfd-wall-force-numerics-validated-sync-20260830/outputs/cfd_flow/production_tau1_base_promotion_anchor003274_20260902_013637/flow/production_steady_flow_field_manifest.json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https://github.com/OZAKI39/ulm-3d-vascular-model-generation/blob/codex/cfd-wall-force-numerics-validated-sync-20260830/outputs/cfd_flow/production_tau1_base_promotion_anchor003274_20260902_013637/qc/production_primary_metrics.json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https://github.com/OZAKI39/ulm-3d-vascular-model-generation/blob/codex/cfd-wall-force-numerics-validated-sync-20260830/outputs/cfd_flow/production_tau1_base_promotion_anchor003274_20260902_013637/visualization/interactive_v3_redesign/01_after_velocity_overview.json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https://github.com/OZAKI39/ulm-3d-vascular-model-generation/blob/codex/cfd-wall-force-numerics-validated-sync-20260830/outputs/cfd_flow/production_tau1_base_promotion_anchor003274_20260902_013637/qc/production_primary_metrics.json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https://github.com/OZAKI39/ulm-3d-vascular-model-generation/blob/codex/cfd-wall-force-numerics-validated-sync-20260830/outputs/cfd_flow/production_tau1_base_promotion_anchor003274_20260902_013637/visualization/interactive_v3_redesign/02_after_pressure_overview.json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https://github.com/OZAKI39/ulm-3d-vascular-model-generation/blob/codex/cfd-wall-force-numerics-validated-sync-20260830/outputs/cfd_flow/production_tau1_base_promotion_anchor003274_20260902_013637/qc/production_steady_qc.json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https://github.com/OZAKI39/ulm-3d-vascular-model-generation/blob/codex/cfd-wall-force-numerics-validated-sync-20260830/outputs/cfd_flow/production_tau1_base_promotion_anchor003274_20260902_013637/qc/production_full_timestep_v2.json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https://github.com/OZAKI39/ulm-3d-vascular-model-generation/blob/codex/cfd-wall-force-numerics-validated-sync-20260830/outputs/cfd_flow/production_tau1_base_promotion_anchor003274_20260902_013637/qc/two_grid_resolution_sensitivity.json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https://github.com/OZAKI39/ulm-3d-vascular-model-generation/blob/codex/cfd-wall-force-numerics-validated-sync-20260830/outputs/cfd_flow/production_tau1_base_promotion_anchor003274_20260902_013637/qc/run_summary.json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0b32e16faf462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e1941ac69c4efc" /><Relationship Type="http://schemas.openxmlformats.org/officeDocument/2006/relationships/slideLayout" Target="/ppt/slideLayouts/slideLayout1.xml" Id="R6cb798dc40e6414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b798dc40e6414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e1fcd0b8764ed7" /><Relationship Type="http://schemas.openxmlformats.org/officeDocument/2006/relationships/image" Target="/ppt/media/image.png" Id="R9c9b28f161d04d51" /><Relationship Type="http://schemas.openxmlformats.org/officeDocument/2006/relationships/notesSlide" Target="/ppt/notesSlides/notesSlide1.xml" Id="R579f4fd9df1d43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08a4da5591489e" /><Relationship Type="http://schemas.openxmlformats.org/officeDocument/2006/relationships/image" Target="/ppt/media/image2.png" Id="R31e9cf3e6fa24a68" /><Relationship Type="http://schemas.openxmlformats.org/officeDocument/2006/relationships/image" Target="/ppt/media/image3.png" Id="R136ca5c7e6ba4ec3" /><Relationship Type="http://schemas.openxmlformats.org/officeDocument/2006/relationships/image" Target="/ppt/media/image4.png" Id="Re81bb29a18dd499a" /><Relationship Type="http://schemas.openxmlformats.org/officeDocument/2006/relationships/notesSlide" Target="/ppt/notesSlides/notesSlide2.xml" Id="R6a46fd94750749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bd840beba54fc9" /><Relationship Type="http://schemas.openxmlformats.org/officeDocument/2006/relationships/image" Target="/ppt/media/image5.png" Id="R0d694010c2b3402d" /><Relationship Type="http://schemas.openxmlformats.org/officeDocument/2006/relationships/image" Target="/ppt/media/image6.png" Id="R846e7ccae3a04615" /><Relationship Type="http://schemas.openxmlformats.org/officeDocument/2006/relationships/chart" Target="/ppt/slides/charts/chart1.xml" Id="R7cbac23651a64bf4" /><Relationship Type="http://schemas.openxmlformats.org/officeDocument/2006/relationships/notesSlide" Target="/ppt/notesSlides/notesSlide3.xml" Id="R6089370cdf024c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4aef1c8e864dc6" /><Relationship Type="http://schemas.openxmlformats.org/officeDocument/2006/relationships/image" Target="/ppt/media/image7.png" Id="R49bbc0856922478d" /><Relationship Type="http://schemas.openxmlformats.org/officeDocument/2006/relationships/notesSlide" Target="/ppt/notesSlides/notesSlide4.xml" Id="R89b8d0a986d543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dce5c23894f52" /><Relationship Type="http://schemas.openxmlformats.org/officeDocument/2006/relationships/notesSlide" Target="/ppt/notesSlides/notesSlide5.xml" Id="R67d0dd07c6764e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71176669d45a0" /><Relationship Type="http://schemas.openxmlformats.org/officeDocument/2006/relationships/image" Target="/ppt/media/image8.png" Id="R08d778bcf78242d7" /><Relationship Type="http://schemas.openxmlformats.org/officeDocument/2006/relationships/notesSlide" Target="/ppt/notesSlides/notesSlide6.xml" Id="R3c1eeaa981b34c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e40d374db94218" /><Relationship Type="http://schemas.openxmlformats.org/officeDocument/2006/relationships/image" Target="/ppt/media/image9.png" Id="R8a28dbf586e84936" /><Relationship Type="http://schemas.openxmlformats.org/officeDocument/2006/relationships/chart" Target="/ppt/slides/charts/chart2.xml" Id="R5697bddb977341b4" /><Relationship Type="http://schemas.openxmlformats.org/officeDocument/2006/relationships/notesSlide" Target="/ppt/notesSlides/notesSlide7.xml" Id="Re3f0030e5f9048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94cbd61864dc9" /><Relationship Type="http://schemas.openxmlformats.org/officeDocument/2006/relationships/notesSlide" Target="/ppt/notesSlides/notesSlide8.xml" Id="Rd7bc69cafd154e97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1"/>
        <c:ser>
          <c:idx val="0"/>
          <c:order val="0"/>
          <c:tx>
            <c:v>Flow</c:v>
          </c:tx>
          <c:spPr>
            <a:solidFill xmlns:a="http://schemas.openxmlformats.org/drawingml/2006/main">
              <a:srgbClr val="163A5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D55E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0072B2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009E7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CC79A7"/>
              </a:solidFill>
            </c:spPr>
          </c:dPt>
          <c:cat>
            <c:strLit>
              <c:ptCount val="4"/>
              <c:pt idx="0">
                <c:v>Inlet</c:v>
              </c:pt>
              <c:pt idx="1">
                <c:v>Outlet 1</c:v>
              </c:pt>
              <c:pt idx="2">
                <c:v>Outlet 2</c:v>
              </c:pt>
              <c:pt idx="3">
                <c:v>Outlet 3</c:v>
              </c:pt>
            </c:strLit>
          </c:cat>
          <c:val>
            <c:numLit>
              <c:formatCode>0.000</c:formatCode>
              <c:ptCount val="4"/>
              <c:pt idx="0">
                <c:v>0.7693508475538942</c:v>
              </c:pt>
              <c:pt idx="1">
                <c:v>0.04848702368821955</c:v>
              </c:pt>
              <c:pt idx="2">
                <c:v>0.38152115839442513</c:v>
              </c:pt>
              <c:pt idx="3">
                <c:v>0.3393426654712128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F29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DD7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47E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8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AED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75">
                    <a:solidFill>
                      <a:srgbClr val="66747E"/>
                    </a:solidFill>
                  </a:rPr>
                  <a:t>Flow (pL/s)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66747E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47E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Share</c:v>
          </c:tx>
          <c:spPr>
            <a:solidFill xmlns:a="http://schemas.openxmlformats.org/drawingml/2006/main">
              <a:srgbClr val="0072B2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0072B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009E7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CC79A7"/>
              </a:solidFill>
            </c:spPr>
          </c:dPt>
          <c:cat>
            <c:strLit>
              <c:ptCount val="3"/>
              <c:pt idx="0">
                <c:v>Outlet 1</c:v>
              </c:pt>
              <c:pt idx="1">
                <c:v>Outlet 2</c:v>
              </c:pt>
              <c:pt idx="2">
                <c:v>Outlet 3</c:v>
              </c:pt>
            </c:strLit>
          </c:cat>
          <c:val>
            <c:numLit>
              <c:formatCode>0.0</c:formatCode>
              <c:ptCount val="3"/>
              <c:pt idx="0">
                <c:v>5.20383163811772</c:v>
              </c:pt>
              <c:pt idx="1">
                <c:v>73.18288235826557</c:v>
              </c:pt>
              <c:pt idx="2">
                <c:v>21.61328600361672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F29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AED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CDD7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47E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47E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89EC4D-D9EF-4046-A898-51E919E2E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F074E7-A378-4D71-8ED5-C2774788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667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COMPUTATIONAL METHODS · MOUSE MICROVASCULAR ROI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862C1A-A431-4FB0-AB70-63FA4D16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933"/>
                </a:solidFill>
              </a:defRPr>
            </a:pPr>
            <a:r>
              <a:rPr sz="3600" b="1">
                <a:solidFill>
                  <a:srgbClr val="1F2933"/>
                </a:solidFill>
              </a:rPr>
              <a:t>From 1D Vascular Data to Validated 3D CFD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83BC6E-AC12-4C02-9CC9-3ED06585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76550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47E"/>
                </a:solidFill>
              </a:defRPr>
            </a:pPr>
            <a:r>
              <a:rPr sz="1575" b="0">
                <a:solidFill>
                  <a:srgbClr val="66747E"/>
                </a:solidFill>
              </a:rPr>
              <a:t>A three-stage workflow for constructing, preparing and solving flow in a mouse microvascular ROI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79A4B-9901-4B37-A765-A71578D8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8D81C8-798B-47AB-AB0B-F3959D31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95775"/>
            <a:ext cx="457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3A5F"/>
                </a:solidFill>
              </a:defRPr>
            </a:pPr>
            <a:r>
              <a:rPr sz="1275" b="1">
                <a:solidFill>
                  <a:srgbClr val="163A5F"/>
                </a:solidFill>
              </a:rPr>
              <a:t>1D boundary data   →   prepared lumen   →   steady 3D field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4BED3E-58CE-4FFE-9151-E859D373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14350"/>
            <a:ext cx="6096000" cy="5753100"/>
          </a:xfrm>
          <a:prstGeom xmlns:a="http://schemas.openxmlformats.org/drawingml/2006/main" prst="roundRect">
            <a:avLst>
              <a:gd name="adj" fmla="val 331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9b28f161d04d51"/>
          <a:stretch xmlns:a="http://schemas.openxmlformats.org/drawingml/2006/main"/>
        </p:blipFill>
        <p:spPr>
          <a:xfrm xmlns:a="http://schemas.openxmlformats.org/drawingml/2006/main">
            <a:off x="5676900" y="1300179"/>
            <a:ext cx="5829300" cy="4181441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8C6D1B-73B2-4FD6-B31C-F2DE8FA0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096000"/>
            <a:ext cx="432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Accepted Base · physical velocity magnitude (mm s⁻¹)</a:t>
            </a:r>
          </a:p>
        </p:txBody>
      </p:sp>
    </p:spTree>
    <p:extLst>
      <p:ext uri="{BB962C8B-B14F-4D97-AF65-F5344CB8AC3E}">
        <p14:creationId xmlns:p14="http://schemas.microsoft.com/office/powerpoint/2010/main" val="9362904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E9284E-97FC-41DD-8E3E-4A75AB12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933"/>
                </a:solidFill>
              </a:defRPr>
            </a:pPr>
            <a:r>
              <a:rPr sz="2400" b="1">
                <a:solidFill>
                  <a:srgbClr val="1F2933"/>
                </a:solidFill>
              </a:rPr>
              <a:t>Three stages turn vascular data into a validated 3D flow field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9C35C1-F210-4BDC-996B-77969E240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95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5AD497-F232-4557-A9D7-40DD24F3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EA4BB0-A2CA-44EF-BF21-A8DBA16F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286EF1-6BB7-4B7B-A058-69AD544FE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8652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7A5408-502B-4257-95A1-06A1CE53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47800"/>
            <a:ext cx="3124200" cy="4400550"/>
          </a:xfrm>
          <a:prstGeom xmlns:a="http://schemas.openxmlformats.org/drawingml/2006/main" prst="roundRect">
            <a:avLst>
              <a:gd name="adj" fmla="val 12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6FCF80-3BC0-45B6-8FEA-B78A45CD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47800"/>
            <a:ext cx="3124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82FC42-5EFA-4053-BF4B-E1C8156D5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7F76"/>
                </a:solidFill>
              </a:defRPr>
            </a:pPr>
            <a:r>
              <a:rPr sz="1050" b="1">
                <a:solidFill>
                  <a:srgbClr val="2A7F76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301109-63F1-40E2-8234-149C0044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2743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933"/>
                </a:solidFill>
              </a:defRPr>
            </a:pPr>
            <a:r>
              <a:rPr sz="1650" b="1">
                <a:solidFill>
                  <a:srgbClr val="1F2933"/>
                </a:solidFill>
              </a:rPr>
              <a:t>1D boundary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2620AC-8C0C-4B13-A5D3-47AB18B5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2743200" cy="2000250"/>
          </a:xfrm>
          <a:prstGeom xmlns:a="http://schemas.openxmlformats.org/drawingml/2006/main" prst="roundRect">
            <a:avLst>
              <a:gd name="adj" fmla="val 952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e9cf3e6fa24a68"/>
          <a:stretch xmlns:a="http://schemas.openxmlformats.org/drawingml/2006/main"/>
        </p:blipFill>
        <p:spPr>
          <a:xfrm xmlns:a="http://schemas.openxmlformats.org/drawingml/2006/main">
            <a:off x="841572" y="2543175"/>
            <a:ext cx="2622157" cy="19240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774E7C-22DF-4A07-B4AA-08B6E067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47E"/>
                </a:solidFill>
              </a:defRPr>
            </a:pPr>
            <a:r>
              <a:rPr sz="1275" b="0">
                <a:solidFill>
                  <a:srgbClr val="66747E"/>
                </a:solidFill>
              </a:rPr>
              <a:t>A reduced network supplies flow and pressure at the local ports.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681BA3-31F5-4F97-871C-2E2ECC82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47800"/>
            <a:ext cx="3124200" cy="4400550"/>
          </a:xfrm>
          <a:prstGeom xmlns:a="http://schemas.openxmlformats.org/drawingml/2006/main" prst="roundRect">
            <a:avLst>
              <a:gd name="adj" fmla="val 12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9E1514-66B5-470C-94A1-0244EB04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47800"/>
            <a:ext cx="3124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79CB23-D7EB-40C3-AD0A-5F465F3D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573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7F76"/>
                </a:solidFill>
              </a:defRPr>
            </a:pPr>
            <a:r>
              <a:rPr sz="1050" b="1">
                <a:solidFill>
                  <a:srgbClr val="2A7F76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B61FD7-E123-4B12-AA13-8D9B1F9B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52625"/>
            <a:ext cx="2743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933"/>
                </a:solidFill>
              </a:defRPr>
            </a:pPr>
            <a:r>
              <a:rPr sz="1650" b="1">
                <a:solidFill>
                  <a:srgbClr val="1F2933"/>
                </a:solidFill>
              </a:rPr>
              <a:t>CFD-ready surface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94F581-CA37-4819-A650-5FE872DA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05075"/>
            <a:ext cx="2743200" cy="2000250"/>
          </a:xfrm>
          <a:prstGeom xmlns:a="http://schemas.openxmlformats.org/drawingml/2006/main" prst="roundRect">
            <a:avLst>
              <a:gd name="adj" fmla="val 952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ca5c7e6ba4ec3"/>
          <a:stretch xmlns:a="http://schemas.openxmlformats.org/drawingml/2006/main"/>
        </p:blipFill>
        <p:spPr>
          <a:xfrm xmlns:a="http://schemas.openxmlformats.org/drawingml/2006/main">
            <a:off x="4533900" y="2671763"/>
            <a:ext cx="2667000" cy="1666875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8BA802-C7D2-430E-A6D5-6106EA71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70535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47E"/>
                </a:solidFill>
              </a:defRPr>
            </a:pPr>
            <a:r>
              <a:rPr sz="1275" b="0">
                <a:solidFill>
                  <a:srgbClr val="66747E"/>
                </a:solidFill>
              </a:rPr>
              <a:t>Extensions and caps create clean regions for boundary conditions.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1DA1B3-8D73-4A65-9C16-C2FC6CA6B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47800"/>
            <a:ext cx="3124200" cy="4400550"/>
          </a:xfrm>
          <a:prstGeom xmlns:a="http://schemas.openxmlformats.org/drawingml/2006/main" prst="roundRect">
            <a:avLst>
              <a:gd name="adj" fmla="val 12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833DA8-88F9-4260-BB18-4DF60744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47800"/>
            <a:ext cx="3124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E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4AF3FB-E7C7-41AA-9E97-57AB279F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7F76"/>
                </a:solidFill>
              </a:defRPr>
            </a:pPr>
            <a:r>
              <a:rPr sz="1050" b="1">
                <a:solidFill>
                  <a:srgbClr val="2A7F76"/>
                </a:solidFill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95E553-D1CF-46AB-811D-68E2BE7F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2743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933"/>
                </a:solidFill>
              </a:defRPr>
            </a:pPr>
            <a:r>
              <a:rPr sz="1650" b="1">
                <a:solidFill>
                  <a:srgbClr val="1F2933"/>
                </a:solidFill>
              </a:rPr>
              <a:t>3D flow solution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C60110-977F-4D10-B8F7-D066D4A1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05075"/>
            <a:ext cx="2743200" cy="2000250"/>
          </a:xfrm>
          <a:prstGeom xmlns:a="http://schemas.openxmlformats.org/drawingml/2006/main" prst="roundRect">
            <a:avLst>
              <a:gd name="adj" fmla="val 952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1bb29a18dd499a"/>
          <a:stretch xmlns:a="http://schemas.openxmlformats.org/drawingml/2006/main"/>
        </p:blipFill>
        <p:spPr>
          <a:xfrm xmlns:a="http://schemas.openxmlformats.org/drawingml/2006/main">
            <a:off x="8248650" y="2548661"/>
            <a:ext cx="2667000" cy="1913078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E2BB5E-4BE7-4454-8339-0C3E0E11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70535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47E"/>
                </a:solidFill>
              </a:defRPr>
            </a:pPr>
            <a:r>
              <a:rPr sz="1275" b="0">
                <a:solidFill>
                  <a:srgbClr val="66747E"/>
                </a:solidFill>
              </a:rPr>
              <a:t>A validated lattice model resolves steady velocity and gauge pressure.</a:t>
            </a:r>
          </a:p>
        </p:txBody>
      </p:sp>
      <p:cxnSp>
        <p:nvCxnSpPr>
          <p:cNvPr id="56" name=""/>
          <p:cNvCxnSpPr>
            <a:stCxn xmlns:a="http://schemas.openxmlformats.org/drawingml/2006/main" id="6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714750" y="3648075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A5F"/>
            </a:solidFill>
            <a:prstDash val="solid"/>
            <a:tailEnd type="triangle" w="sm" len="sm"/>
          </a:ln>
        </p:spPr>
      </p:cxnSp>
      <p:cxnSp>
        <p:nvCxnSpPr>
          <p:cNvPr id="57" name=""/>
          <p:cNvCxnSpPr>
            <a:stCxn xmlns:a="http://schemas.openxmlformats.org/drawingml/2006/main" id="13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7429500" y="3648075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A7F76"/>
            </a:solidFill>
            <a:prstDash val="solid"/>
            <a:tailEnd type="triangle" w="sm" len="sm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1BCE90-7AF3-4B9B-9B74-70FD1227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48375"/>
            <a:ext cx="1017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3A5F"/>
                </a:solidFill>
              </a:defRPr>
            </a:pPr>
            <a:r>
              <a:rPr sz="1125" b="1">
                <a:solidFill>
                  <a:srgbClr val="163A5F"/>
                </a:solidFill>
              </a:rPr>
              <a:t>Scientific hand-off at each stage: boundary values → geometry → validated field</a:t>
            </a:r>
          </a:p>
        </p:txBody>
      </p:sp>
    </p:spTree>
    <p:extLst>
      <p:ext uri="{BB962C8B-B14F-4D97-AF65-F5344CB8AC3E}">
        <p14:creationId xmlns:p14="http://schemas.microsoft.com/office/powerpoint/2010/main" val="14039471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57BEE6-D79F-46AB-830B-3DA9838A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933"/>
                </a:solidFill>
              </a:defRPr>
            </a:pPr>
            <a:r>
              <a:rPr sz="2400" b="1">
                <a:solidFill>
                  <a:srgbClr val="1F2933"/>
                </a:solidFill>
              </a:rPr>
              <a:t>The 1D model supplies consistent 3D boundary conditions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DF0728-3739-4E35-ACAA-4B91BE901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95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STAGE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4477E4-0FD6-40B7-82D2-C299F31E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CF6E4A-C1C5-4AB0-BD43-F9BB0F51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CC5ECF-6464-49CB-ACD2-F8017E79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8652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A4DB6E-4404-4A49-9986-B020D3C8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4953000" cy="2238375"/>
          </a:xfrm>
          <a:prstGeom xmlns:a="http://schemas.openxmlformats.org/drawingml/2006/main" prst="roundRect">
            <a:avLst>
              <a:gd name="adj" fmla="val 1277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94010c2b3402d"/>
          <a:stretch xmlns:a="http://schemas.openxmlformats.org/drawingml/2006/main"/>
        </p:blipFill>
        <p:spPr>
          <a:xfrm xmlns:a="http://schemas.openxmlformats.org/drawingml/2006/main">
            <a:off x="1581571" y="1333500"/>
            <a:ext cx="2894757" cy="21240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8F32ED-519E-458A-9706-89B78B5E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3A5F"/>
                </a:solidFill>
              </a:defRPr>
            </a:pPr>
            <a:r>
              <a:rPr sz="975" b="1">
                <a:solidFill>
                  <a:srgbClr val="163A5F"/>
                </a:solidFill>
              </a:rPr>
              <a:t>Global network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AB2EBB-CC7C-4D72-B373-146B415A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67125"/>
            <a:ext cx="4953000" cy="2381250"/>
          </a:xfrm>
          <a:prstGeom xmlns:a="http://schemas.openxmlformats.org/drawingml/2006/main" prst="roundRect">
            <a:avLst>
              <a:gd name="adj" fmla="val 1200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6e7ccae3a04615"/>
          <a:stretch xmlns:a="http://schemas.openxmlformats.org/drawingml/2006/main"/>
        </p:blipFill>
        <p:spPr>
          <a:xfrm xmlns:a="http://schemas.openxmlformats.org/drawingml/2006/main">
            <a:off x="1563103" y="3724275"/>
            <a:ext cx="2931695" cy="22669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FF3B17-71D9-4F81-9D3B-B1530B6C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8142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3A5F"/>
                </a:solidFill>
              </a:defRPr>
            </a:pPr>
            <a:r>
              <a:rPr sz="975" b="1">
                <a:solidFill>
                  <a:srgbClr val="163A5F"/>
                </a:solidFill>
              </a:rPr>
              <a:t>Local ROI ports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8D0ACC-2D54-4010-8FAE-12058C24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36207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933"/>
                </a:solidFill>
              </a:defRPr>
            </a:pPr>
            <a:r>
              <a:rPr sz="1650" b="1">
                <a:solidFill>
                  <a:srgbClr val="1F2933"/>
                </a:solidFill>
              </a:rPr>
              <a:t>Transferred port flow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829300" y="1752600"/>
          <a:ext xmlns:a="http://schemas.openxmlformats.org/drawingml/2006/main" cx="5524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bac23651a64bf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675014-1027-48A7-9A66-40BD2C00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76800"/>
            <a:ext cx="5295900" cy="1076325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EE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A46FF1-514D-4333-9F7A-4F50C25B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05777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A5F"/>
                </a:solidFill>
              </a:defRPr>
            </a:pPr>
            <a:r>
              <a:rPr sz="1500" b="1">
                <a:solidFill>
                  <a:srgbClr val="163A5F"/>
                </a:solidFill>
              </a:rPr>
              <a:t>1 inlet · 3 outlets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CD680-1E4D-4A58-9C5B-C1E504BF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410200"/>
            <a:ext cx="4686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47E"/>
                </a:solidFill>
              </a:defRPr>
            </a:pPr>
            <a:r>
              <a:rPr sz="1200" b="0">
                <a:solidFill>
                  <a:srgbClr val="66747E"/>
                </a:solidFill>
              </a:rPr>
              <a:t>Outlet flows reproduce the inlet within 4.8 × 10⁻¹⁴ relative mismatch.</a:t>
            </a:r>
          </a:p>
        </p:txBody>
      </p:sp>
    </p:spTree>
    <p:extLst>
      <p:ext uri="{BB962C8B-B14F-4D97-AF65-F5344CB8AC3E}">
        <p14:creationId xmlns:p14="http://schemas.microsoft.com/office/powerpoint/2010/main" val="18768478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31896C-C88C-4CFA-9B6E-4D09A284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933"/>
                </a:solidFill>
              </a:defRPr>
            </a:pPr>
            <a:r>
              <a:rPr sz="2400" b="1">
                <a:solidFill>
                  <a:srgbClr val="1F2933"/>
                </a:solidFill>
              </a:rPr>
              <a:t>Surface preparation creates a clean solver-ready vascular domain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818A88-F0F4-4D20-80C1-14AC7E2F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95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STAGE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C5EFC0-FEFB-4737-B38B-8067071C1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CFD99D-BC59-4497-A8DB-8D4F7E98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5B1D23-EA36-487B-A195-78322417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8652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BFB201-A6AA-4A20-8AB6-2A9EF722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85875"/>
            <a:ext cx="11087100" cy="3905250"/>
          </a:xfrm>
          <a:prstGeom xmlns:a="http://schemas.openxmlformats.org/drawingml/2006/main" prst="roundRect">
            <a:avLst>
              <a:gd name="adj" fmla="val 732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bbc0856922478d"/>
          <a:stretch xmlns:a="http://schemas.openxmlformats.org/drawingml/2006/main"/>
        </p:blipFill>
        <p:spPr>
          <a:xfrm xmlns:a="http://schemas.openxmlformats.org/drawingml/2006/main">
            <a:off x="628650" y="1542672"/>
            <a:ext cx="10934700" cy="3391656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501AC4-9978-435B-8A34-A7CDC0B7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485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47E"/>
                </a:solidFill>
              </a:defRPr>
            </a:pPr>
            <a:r>
              <a:rPr sz="1125" b="1">
                <a:solidFill>
                  <a:srgbClr val="66747E"/>
                </a:solidFill>
              </a:rPr>
              <a:t>BEFORE · open cut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48D9D-76CD-4783-A53E-34B93BEB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85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A7F76"/>
                </a:solidFill>
              </a:defRPr>
            </a:pPr>
            <a:r>
              <a:rPr sz="1125" b="1">
                <a:solidFill>
                  <a:srgbClr val="2A7F76"/>
                </a:solidFill>
              </a:rPr>
              <a:t>AFTER · extended and capped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8D1324-F93A-4C10-9C4F-F8EC3500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95425"/>
            <a:ext cx="0" cy="3448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D7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543CA0-1662-42EE-A543-18CC3CD4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809625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5A99B4-3CF8-440D-9066-3598B593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3A5F"/>
                </a:solidFill>
              </a:defRPr>
            </a:pPr>
            <a:r>
              <a:rPr sz="1350" b="1">
                <a:solidFill>
                  <a:srgbClr val="163A5F"/>
                </a:solidFill>
              </a:rPr>
              <a:t>Core preserved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D34589-9F98-4265-8303-EC6F1474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674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0 μm max far-core motion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B0CF68-99FA-4397-831B-76EC3192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5816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A7F76"/>
                </a:solidFill>
              </a:defRPr>
            </a:pPr>
            <a:r>
              <a:rPr sz="1350" b="1">
                <a:solidFill>
                  <a:srgbClr val="2A7F76"/>
                </a:solidFill>
              </a:rPr>
              <a:t>Boundary-ready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CFA60D-70E5-4EAB-8155-7A4F2E23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8674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4 capped ports · 1 component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495C91-92DD-4C9B-BCAB-74105949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5816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</a:defRPr>
            </a:pPr>
            <a:r>
              <a:rPr sz="1350" b="1">
                <a:solidFill>
                  <a:srgbClr val="1F2933"/>
                </a:solidFill>
              </a:rPr>
              <a:t>Geometry QC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EF16A9-FA52-472E-9357-044CE0A9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8674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Watertight · 0 intersections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B94378-6DC4-4E9B-974B-6A058DD2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14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C8AEB5-91A4-467C-A8D6-22F4FFF7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4673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Inlet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225FE8-5D79-4D8D-9736-45EAD692E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676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69ED80-B60F-41CF-82EF-0194B6DC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629275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Outlet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760E3E-EFD5-480F-B43B-EA723C21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38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E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AEB7D7-B1A7-4FEF-B8D6-97C2B8D4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79120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Outlet 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A0A725-4829-40BF-BC5B-FAB1095E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9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407AAE-351C-4AA8-B628-4CE72359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953125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Outlet 3</a:t>
            </a:r>
          </a:p>
        </p:txBody>
      </p:sp>
    </p:spTree>
    <p:extLst>
      <p:ext uri="{BB962C8B-B14F-4D97-AF65-F5344CB8AC3E}">
        <p14:creationId xmlns:p14="http://schemas.microsoft.com/office/powerpoint/2010/main" val="5003971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93300CF-8ACE-40B7-89EA-6C9B71EF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933"/>
                </a:solidFill>
              </a:defRPr>
            </a:pPr>
            <a:r>
              <a:rPr sz="2400" b="1">
                <a:solidFill>
                  <a:srgbClr val="1F2933"/>
                </a:solidFill>
              </a:rPr>
              <a:t>The 3D solver uses a validated lattice-Boltzmann configuration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B9D12-522B-42B3-9165-3A3A0F7E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95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STAGE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005F26-3EA4-49ED-A7CD-47E356C7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CB0869-CBA7-45D7-A233-E5FF708D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42ABAA-413A-480F-8A7C-EC063DAE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8652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73222-A2BF-4CFB-B339-8B731FD3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3825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47E"/>
                </a:solidFill>
              </a:defRPr>
            </a:pPr>
            <a:r>
              <a:rPr sz="1350" b="0">
                <a:solidFill>
                  <a:srgbClr val="66747E"/>
                </a:solidFill>
              </a:rPr>
              <a:t>A uniform lattice advances local particle populations until the physical flow field becomes steady.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127767-7115-41A6-997F-71EF705E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2667000" cy="1695450"/>
          </a:xfrm>
          <a:prstGeom xmlns:a="http://schemas.openxmlformats.org/drawingml/2006/main" prst="roundRect">
            <a:avLst>
              <a:gd name="adj" fmla="val 2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B5E306-4974-4027-991E-360166FD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266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4A1EFF-320F-4C02-A450-603719CB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247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2933"/>
                </a:solidFill>
              </a:defRPr>
            </a:pPr>
            <a:r>
              <a:rPr sz="1575" b="1">
                <a:solidFill>
                  <a:srgbClr val="1F2933"/>
                </a:solidFill>
              </a:rPr>
              <a:t>Uniform 3D lattice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E16AE9-E5E8-44D8-B610-3E68CCF0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47E"/>
                </a:solidFill>
              </a:defRPr>
            </a:pPr>
            <a:r>
              <a:rPr sz="1200" b="0">
                <a:solidFill>
                  <a:srgbClr val="66747E"/>
                </a:solidFill>
              </a:rPr>
              <a:t>The lumen is represented by 182,320 fluid cells.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765F0B-F38C-4C7A-9E02-D4E44450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057400"/>
            <a:ext cx="2667000" cy="1695450"/>
          </a:xfrm>
          <a:prstGeom xmlns:a="http://schemas.openxmlformats.org/drawingml/2006/main" prst="roundRect">
            <a:avLst>
              <a:gd name="adj" fmla="val 2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5179C-23F8-45AA-89A2-39F66130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057400"/>
            <a:ext cx="266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166B8C-A6A0-442A-A8E0-3292E7CA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24100"/>
            <a:ext cx="2247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2933"/>
                </a:solidFill>
              </a:defRPr>
            </a:pPr>
            <a:r>
              <a:rPr sz="1575" b="1">
                <a:solidFill>
                  <a:srgbClr val="1F2933"/>
                </a:solidFill>
              </a:rPr>
              <a:t>Stream &amp; collide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A0E8B4-EF41-40F5-BE17-248B2A90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81940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47E"/>
                </a:solidFill>
              </a:defRPr>
            </a:pPr>
            <a:r>
              <a:rPr sz="1200" b="0">
                <a:solidFill>
                  <a:srgbClr val="66747E"/>
                </a:solidFill>
              </a:rPr>
              <a:t>D3Q19 populations exchange information locally.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933761-27BB-4337-BE09-8A4CEC50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57400"/>
            <a:ext cx="2667000" cy="1695450"/>
          </a:xfrm>
          <a:prstGeom xmlns:a="http://schemas.openxmlformats.org/drawingml/2006/main" prst="roundRect">
            <a:avLst>
              <a:gd name="adj" fmla="val 2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FE274A-2A1A-400B-AAE7-5613AF0E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57400"/>
            <a:ext cx="266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E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6D49E0-A410-4246-ABB8-E96F68BC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24100"/>
            <a:ext cx="2247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2933"/>
                </a:solidFill>
              </a:defRPr>
            </a:pPr>
            <a:r>
              <a:rPr sz="1575" b="1">
                <a:solidFill>
                  <a:srgbClr val="1F2933"/>
                </a:solidFill>
              </a:rPr>
              <a:t>Steady physical field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D8C4F3-E72A-41EC-98BB-6D6CA962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81940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47E"/>
                </a:solidFill>
              </a:defRPr>
            </a:pPr>
            <a:r>
              <a:rPr sz="1200" b="0">
                <a:solidFill>
                  <a:srgbClr val="66747E"/>
                </a:solidFill>
              </a:rPr>
              <a:t>Velocity and gauge pressure are recovered in SI units.</a:t>
            </a:r>
          </a:p>
        </p:txBody>
      </p:sp>
      <p:cxnSp>
        <p:nvCxnSpPr>
          <p:cNvPr id="58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333750" y="2905125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A5F"/>
            </a:solidFill>
            <a:prstDash val="solid"/>
            <a:tailEnd type="triangle" w="sm" len="sm"/>
          </a:ln>
        </p:spPr>
      </p:cxnSp>
      <p:cxnSp>
        <p:nvCxnSpPr>
          <p:cNvPr id="59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6619875" y="2905125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A7F76"/>
            </a:solidFill>
            <a:prstDash val="solid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7FE3FA-A920-4FE1-A757-1A3B2C559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1981200"/>
            <a:ext cx="1257300" cy="184785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E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D81A04-D003-4DC9-9575-EBEE337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1907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DRIVING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7C6955-C10A-4758-99EA-308DAD3D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543175"/>
            <a:ext cx="99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A5F"/>
                </a:solidFill>
              </a:defRPr>
            </a:pPr>
            <a:r>
              <a:rPr sz="1200" b="1">
                <a:solidFill>
                  <a:srgbClr val="163A5F"/>
                </a:solidFill>
              </a:rPr>
              <a:t>Adaptive</a:t>
            </a:r>
          </a:p>
          <a:p xmlns:a="http://schemas.openxmlformats.org/drawingml/2006/main">
            <a:pPr algn="ctr">
              <a:defRPr sz="1200" b="1">
                <a:solidFill>
                  <a:srgbClr val="163A5F"/>
                </a:solidFill>
              </a:defRPr>
            </a:pPr>
            <a:r>
              <a:rPr sz="1200" b="1">
                <a:solidFill>
                  <a:srgbClr val="163A5F"/>
                </a:solidFill>
              </a:rPr>
              <a:t>inlet flow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416AD9-129E-4FFD-8DB6-8DFA566A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095625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BE89DF-066C-4668-AC5C-1C77C57B8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3238500"/>
            <a:ext cx="990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3 outlet</a:t>
            </a:r>
          </a:p>
          <a:p xmlns:a="http://schemas.openxmlformats.org/drawingml/2006/main">
            <a:pPr algn="ctr"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gauge pressures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64986F-4848-4E46-91B6-61594EFD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933"/>
                </a:solidFill>
              </a:defRPr>
            </a:pPr>
            <a:r>
              <a:rPr sz="1650" b="1">
                <a:solidFill>
                  <a:srgbClr val="1F2933"/>
                </a:solidFill>
              </a:rPr>
              <a:t>Validated Base configuration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0D6551-A77B-48CD-A141-21476953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38700"/>
            <a:ext cx="220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3A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84CF0A-7F92-4FA1-B17C-3C3812B8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104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47E"/>
                </a:solidFill>
              </a:defRPr>
            </a:pPr>
            <a:r>
              <a:rPr sz="1050" b="1">
                <a:solidFill>
                  <a:srgbClr val="66747E"/>
                </a:solidFill>
              </a:rPr>
              <a:t>dx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EA9EEA-6D7A-4456-9F20-0ACA9D4C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05425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2933"/>
                </a:solidFill>
              </a:defRPr>
            </a:pPr>
            <a:r>
              <a:rPr sz="1725" b="1">
                <a:solidFill>
                  <a:srgbClr val="1F2933"/>
                </a:solidFill>
              </a:rPr>
              <a:t>0.20 μm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A6001C-432D-4E57-8018-FD8CC090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838700"/>
            <a:ext cx="220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7F7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176BB8-5F6A-4EAB-B840-8E61789B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010150"/>
            <a:ext cx="104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47E"/>
                </a:solidFill>
              </a:defRPr>
            </a:pPr>
            <a:r>
              <a:rPr sz="1050" b="1">
                <a:solidFill>
                  <a:srgbClr val="66747E"/>
                </a:solidFill>
              </a:rPr>
              <a:t>dt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580A11-E365-48F7-87AC-F984138E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305425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2933"/>
                </a:solidFill>
              </a:defRPr>
            </a:pPr>
            <a:r>
              <a:rPr sz="1725" b="1">
                <a:solidFill>
                  <a:srgbClr val="1F2933"/>
                </a:solidFill>
              </a:rPr>
              <a:t>2.039 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C10707-D4BC-42FB-B7A0-9FB4D427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38700"/>
            <a:ext cx="220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7F7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CD597B3-951C-4827-8416-06DEB996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10150"/>
            <a:ext cx="104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47E"/>
                </a:solidFill>
              </a:defRPr>
            </a:pPr>
            <a:r>
              <a:rPr sz="1050" b="1">
                <a:solidFill>
                  <a:srgbClr val="66747E"/>
                </a:solidFill>
              </a:rPr>
              <a:t>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0B025A-6180-4C8F-9E38-39883CB7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305425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2933"/>
                </a:solidFill>
              </a:defRPr>
            </a:pPr>
            <a:r>
              <a:rPr sz="1725" b="1">
                <a:solidFill>
                  <a:srgbClr val="1F2933"/>
                </a:solidFill>
              </a:rPr>
              <a:t>1.0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E838E2-B737-41E4-AD8D-893FFC01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838700"/>
            <a:ext cx="220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7F7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91BE9A8-9B1E-494E-A730-63C390C8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010150"/>
            <a:ext cx="104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47E"/>
                </a:solidFill>
              </a:defRPr>
            </a:pPr>
            <a:r>
              <a:rPr sz="1050" b="1">
                <a:solidFill>
                  <a:srgbClr val="66747E"/>
                </a:solidFill>
              </a:rPr>
              <a:t>Target Q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ECCE59-178E-45C7-A0A2-9B24ECB2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305425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2933"/>
                </a:solidFill>
              </a:defRPr>
            </a:pPr>
            <a:r>
              <a:rPr sz="1725" b="1">
                <a:solidFill>
                  <a:srgbClr val="1F2933"/>
                </a:solidFill>
              </a:rPr>
              <a:t>0.164 nL/min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B3BC51-2B49-483B-8980-6F6F8390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72175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Diffusive scaling: dt = dx² / (6ν)</a:t>
            </a:r>
          </a:p>
        </p:txBody>
      </p:sp>
    </p:spTree>
    <p:extLst>
      <p:ext uri="{BB962C8B-B14F-4D97-AF65-F5344CB8AC3E}">
        <p14:creationId xmlns:p14="http://schemas.microsoft.com/office/powerpoint/2010/main" val="9155654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4F47F2-EF89-4904-A168-A8E56B5B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933"/>
                </a:solidFill>
              </a:defRPr>
            </a:pPr>
            <a:r>
              <a:rPr sz="2400" b="1">
                <a:solidFill>
                  <a:srgbClr val="1F2933"/>
                </a:solidFill>
              </a:rPr>
              <a:t>Steady CFD resolves velocity across vascular branches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83B683-8E55-462D-BE2E-AC827A11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95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7A150B-B761-47D8-858E-15249A40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DD8E5-667E-4736-8F69-C0DF8698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7BE8A4-EF9E-4431-A4C8-38A3D0B2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8652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141DF3-E82F-44DF-97F8-FE32D0A5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8229600" cy="4762500"/>
          </a:xfrm>
          <a:prstGeom xmlns:a="http://schemas.openxmlformats.org/drawingml/2006/main" prst="roundRect">
            <a:avLst>
              <a:gd name="adj" fmla="val 600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d778bcf78242d7"/>
          <a:stretch xmlns:a="http://schemas.openxmlformats.org/drawingml/2006/main"/>
        </p:blipFill>
        <p:spPr>
          <a:xfrm xmlns:a="http://schemas.openxmlformats.org/drawingml/2006/main">
            <a:off x="1453806" y="1343025"/>
            <a:ext cx="6426888" cy="46101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E64EAB-A903-4FF9-95D4-5960B4D1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3827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A5F"/>
                </a:solidFill>
              </a:defRPr>
            </a:pPr>
            <a:r>
              <a:rPr sz="900" b="1">
                <a:solidFill>
                  <a:srgbClr val="163A5F"/>
                </a:solidFill>
              </a:rPr>
              <a:t>PHYSICAL VELOCITY · mm s⁻¹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67876D-7283-4698-B474-4C4E4FC9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457325"/>
            <a:ext cx="2571750" cy="11239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EE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979601-4B0D-45D4-AD70-28B07138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6687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3A5F"/>
                </a:solidFill>
              </a:defRPr>
            </a:pPr>
            <a:r>
              <a:rPr sz="1875" b="1">
                <a:solidFill>
                  <a:srgbClr val="163A5F"/>
                </a:solidFill>
              </a:rPr>
              <a:t>0.177 mm s⁻¹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8C8B2E-F4C5-4552-A210-EA59D915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76450"/>
            <a:ext cx="2152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mean speed across the accepted Base field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F23C35-7B38-4515-BCA1-20A01C3A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71775"/>
            <a:ext cx="2571750" cy="11239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B86277-448E-4DC3-B86A-2915B976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8132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A7F76"/>
                </a:solidFill>
              </a:defRPr>
            </a:pPr>
            <a:r>
              <a:rPr sz="1875" b="1">
                <a:solidFill>
                  <a:srgbClr val="2A7F76"/>
                </a:solidFill>
              </a:rPr>
              <a:t>598,755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882343-D7D9-4EA2-917C-A1FB55FA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90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accepted steady-state iteration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AB819D-F26F-4AD9-9B9E-35ABB6B6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33875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80CBAB-145B-4A35-818A-69AA27F5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148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933"/>
                </a:solidFill>
              </a:defRPr>
            </a:pPr>
            <a:r>
              <a:rPr sz="1200" b="1">
                <a:solidFill>
                  <a:srgbClr val="1F2933"/>
                </a:solidFill>
              </a:rPr>
              <a:t>Interpretation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124180-A22E-4D68-A841-EBE95AB3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8958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47E"/>
                </a:solidFill>
              </a:defRPr>
            </a:pPr>
            <a:r>
              <a:rPr sz="1275" b="0">
                <a:solidFill>
                  <a:srgbClr val="66747E"/>
                </a:solidFill>
              </a:rPr>
              <a:t>Higher-speed colors are localized around the inlet and selected branch segments.</a:t>
            </a:r>
          </a:p>
        </p:txBody>
      </p:sp>
    </p:spTree>
    <p:extLst>
      <p:ext uri="{BB962C8B-B14F-4D97-AF65-F5344CB8AC3E}">
        <p14:creationId xmlns:p14="http://schemas.microsoft.com/office/powerpoint/2010/main" val="12141595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86D4F2-66C8-4265-AE0B-2CC335B2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933"/>
                </a:solidFill>
              </a:defRPr>
            </a:pPr>
            <a:r>
              <a:rPr sz="2400" b="1">
                <a:solidFill>
                  <a:srgbClr val="1F2933"/>
                </a:solidFill>
              </a:rPr>
              <a:t>Flow and gauge pressure remain consistent across three outlets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5C48CB-03F6-4097-9288-82E7A2F3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95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QUANTITATIVE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FB9898-EEF8-462B-B3CC-98DA587D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D2B02C-6673-4642-8070-328D999C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553222-C8A3-4CAD-8020-077A84D1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8652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F8A39F-0B5C-422E-AC84-F9949193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95400"/>
            <a:ext cx="6334125" cy="4572000"/>
          </a:xfrm>
          <a:prstGeom xmlns:a="http://schemas.openxmlformats.org/drawingml/2006/main" prst="roundRect">
            <a:avLst>
              <a:gd name="adj" fmla="val 625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28dbf586e84936"/>
          <a:stretch xmlns:a="http://schemas.openxmlformats.org/drawingml/2006/main"/>
        </p:blipFill>
        <p:spPr>
          <a:xfrm xmlns:a="http://schemas.openxmlformats.org/drawingml/2006/main">
            <a:off x="638855" y="1371600"/>
            <a:ext cx="6161314" cy="44196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D27B4-35D9-4738-B75B-906A91B2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A5F"/>
                </a:solidFill>
              </a:defRPr>
            </a:pPr>
            <a:r>
              <a:rPr sz="900" b="1">
                <a:solidFill>
                  <a:srgbClr val="163A5F"/>
                </a:solidFill>
              </a:rPr>
              <a:t>GAUGE PRESSURE · Pa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8EF6D3-E4C8-48E0-A7D1-CE0D4BE51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335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933"/>
                </a:solidFill>
              </a:defRPr>
            </a:pPr>
            <a:r>
              <a:rPr sz="1650" b="1">
                <a:solidFill>
                  <a:srgbClr val="1F2933"/>
                </a:solidFill>
              </a:rPr>
              <a:t>Outlet flow split</a:t>
            </a:r>
          </a:p>
        </p:txBody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7143750" y="1714500"/>
          <a:ext xmlns:a="http://schemas.openxmlformats.org/drawingml/2006/main" cx="428625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97bddb977341b4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8B8F1-706B-4CA5-8B73-A14C8A03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1485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D9DFBD-8C95-41FF-B023-CA459CCF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3A5F"/>
                </a:solidFill>
              </a:defRPr>
            </a:pPr>
            <a:r>
              <a:rPr sz="1800" b="1">
                <a:solidFill>
                  <a:srgbClr val="163A5F"/>
                </a:solidFill>
              </a:rPr>
              <a:t>0.164 → 0.163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FA977E-F1EC-4A56-9B35-2F279D24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0577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47E"/>
                </a:solidFill>
              </a:defRPr>
            </a:pPr>
            <a:r>
              <a:rPr sz="975" b="0">
                <a:solidFill>
                  <a:srgbClr val="66747E"/>
                </a:solidFill>
              </a:rPr>
              <a:t>inlet → outlet (nL/min)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D112D9-1234-4EC2-8A9F-F545C2F1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863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A7F76"/>
                </a:solidFill>
              </a:defRPr>
            </a:pPr>
            <a:r>
              <a:rPr sz="1800" b="1">
                <a:solidFill>
                  <a:srgbClr val="2A7F76"/>
                </a:solidFill>
              </a:rPr>
              <a:t>0.154%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97883E-7242-44FC-9467-F8B5E876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0577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47E"/>
                </a:solidFill>
              </a:defRPr>
            </a:pPr>
            <a:r>
              <a:rPr sz="975" b="0">
                <a:solidFill>
                  <a:srgbClr val="66747E"/>
                </a:solidFill>
              </a:rPr>
              <a:t>physical flow closure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C17192-8D76-4001-99FD-BDAA18C8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486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933"/>
                </a:solidFill>
              </a:defRPr>
            </a:pPr>
            <a:r>
              <a:rPr sz="1275" b="1">
                <a:solidFill>
                  <a:srgbClr val="1F2933"/>
                </a:solidFill>
              </a:rPr>
              <a:t>531 Pa inlet gauge pressure</a:t>
            </a:r>
          </a:p>
        </p:txBody>
      </p:sp>
    </p:spTree>
    <p:extLst>
      <p:ext uri="{BB962C8B-B14F-4D97-AF65-F5344CB8AC3E}">
        <p14:creationId xmlns:p14="http://schemas.microsoft.com/office/powerpoint/2010/main" val="5361686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FDFC21-FA17-4D90-B4DC-E956035C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933"/>
                </a:solidFill>
              </a:defRPr>
            </a:pPr>
            <a:r>
              <a:rPr sz="2400" b="1">
                <a:solidFill>
                  <a:srgbClr val="1F2933"/>
                </a:solidFill>
              </a:rPr>
              <a:t>The validated Base solution is production-ready within the current study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984FFD-3E79-4B12-A392-7C3624A2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95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VALIDATION &amp;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7E935F-B262-4C68-AC4A-E40510BB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BA9360-A84C-444C-8562-4D72C0FA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2533AE-A842-4AA7-9002-03F2C8A5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8652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E3F45A-7380-4DCD-85B8-486730B0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62075"/>
            <a:ext cx="5295900" cy="3886200"/>
          </a:xfrm>
          <a:prstGeom xmlns:a="http://schemas.openxmlformats.org/drawingml/2006/main" prst="roundRect">
            <a:avLst>
              <a:gd name="adj" fmla="val 980"/>
            </a:avLst>
          </a:prstGeom>
          <a:solidFill xmlns:a="http://schemas.openxmlformats.org/drawingml/2006/main">
            <a:srgbClr val="EE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409C34-8313-491D-8115-268280D1B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A7F76"/>
                </a:solidFill>
              </a:defRPr>
            </a:pPr>
            <a:r>
              <a:rPr sz="1125" b="1">
                <a:solidFill>
                  <a:srgbClr val="2A7F76"/>
                </a:solidFill>
              </a:rPr>
              <a:t>VALIDATED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309BF6-55FE-42C9-9899-C5536113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9E20F-51EC-4BEE-B69B-3AB77A3F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933"/>
                </a:solidFill>
              </a:defRPr>
            </a:pPr>
            <a:r>
              <a:rPr sz="1200" b="1">
                <a:solidFill>
                  <a:srgbClr val="1F2933"/>
                </a:solidFill>
              </a:rPr>
              <a:t>Steady Base solution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891B24-8AD0-4733-99FE-7AB55506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57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Accepted at 598,755 iterations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54170F-99E0-4FEB-B3A4-3DFB8EA6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9557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8E8B0D-8E83-4DCD-823C-348E8AA2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3842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933"/>
                </a:solidFill>
              </a:defRPr>
            </a:pPr>
            <a:r>
              <a:rPr sz="1200" b="1">
                <a:solidFill>
                  <a:srgbClr val="1F2933"/>
                </a:solidFill>
              </a:rPr>
              <a:t>Physical flow closure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FFA07D-00E8-478B-981E-D5DD681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384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0.154%  (&lt; 1%)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C2F701-E3B1-490E-883A-E3D51E1F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C56EB1-4D69-44F3-8C01-AB6C32BA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194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933"/>
                </a:solidFill>
              </a:defRPr>
            </a:pPr>
            <a:r>
              <a:rPr sz="1200" b="1">
                <a:solidFill>
                  <a:srgbClr val="1F2933"/>
                </a:solidFill>
              </a:rPr>
              <a:t>Full-timestep mass identity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79DF14-021E-4B4A-A41E-67B752E0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19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7.91e-10  (&lt; 1 × 10⁻⁸)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A67A26-2DF6-4DE1-9667-AF7F6FC8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5762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3244D9-686A-46CE-8872-06E1753B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004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933"/>
                </a:solidFill>
              </a:defRPr>
            </a:pPr>
            <a:r>
              <a:rPr sz="1200" b="1">
                <a:solidFill>
                  <a:srgbClr val="1F2933"/>
                </a:solidFill>
              </a:rPr>
              <a:t>Numerical safety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C856E2-2691-4137-B578-BB353902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004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Positive populations; low lattice speed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5C44E4-8C4E-456D-8B2B-9B3C42EE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386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0AF7DF-F03A-4001-A9C9-6DD6E116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81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933"/>
                </a:solidFill>
              </a:defRPr>
            </a:pPr>
            <a:r>
              <a:rPr sz="1200" b="1">
                <a:solidFill>
                  <a:srgbClr val="1F2933"/>
                </a:solidFill>
              </a:rPr>
              <a:t>Resolution sensitivity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5CE806-4106-4FC2-A717-BE3FE422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381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Coarse → Base max difference 1.45%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591675-9CD5-4614-B8FA-5FE277EB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62075"/>
            <a:ext cx="5486400" cy="3886200"/>
          </a:xfrm>
          <a:prstGeom xmlns:a="http://schemas.openxmlformats.org/drawingml/2006/main" prst="roundRect">
            <a:avLst>
              <a:gd name="adj" fmla="val 9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B06391-8097-4528-9180-10D6EF0B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19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3A5F"/>
                </a:solidFill>
              </a:defRPr>
            </a:pPr>
            <a:r>
              <a:rPr sz="1125" b="1">
                <a:solidFill>
                  <a:srgbClr val="163A5F"/>
                </a:solidFill>
              </a:rPr>
              <a:t>CURRENT SCOPE LIMITS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B6DFBA-1590-4668-A350-98C9797A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57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1A0AA8-B2D5-46E1-A954-6CDE621A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812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933"/>
                </a:solidFill>
              </a:defRPr>
            </a:pPr>
            <a:r>
              <a:rPr sz="1275" b="1">
                <a:solidFill>
                  <a:srgbClr val="1F2933"/>
                </a:solidFill>
              </a:rPr>
              <a:t>Three-grid convergence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76C26F-10CF-4641-BD40-3679DD23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81225"/>
            <a:ext cx="2914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47E"/>
                </a:solidFill>
              </a:defRPr>
            </a:pPr>
            <a:r>
              <a:rPr sz="1125" b="0">
                <a:solidFill>
                  <a:srgbClr val="66747E"/>
                </a:solidFill>
              </a:rPr>
              <a:t>Richardson/GCI not completed under the compute budget.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63F7F1-50FC-4F20-8FCD-E78DAFB5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71005A-DAEF-45E0-BD4D-67A3457E1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765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933"/>
                </a:solidFill>
              </a:defRPr>
            </a:pPr>
            <a:r>
              <a:rPr sz="1275" b="1">
                <a:solidFill>
                  <a:srgbClr val="1F2933"/>
                </a:solidFill>
              </a:rPr>
              <a:t>Fine grid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FCEC46-9FB6-4569-ACD0-FB5E79AC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76575"/>
            <a:ext cx="2914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47E"/>
                </a:solidFill>
              </a:defRPr>
            </a:pPr>
            <a:r>
              <a:rPr sz="1125" b="0">
                <a:solidFill>
                  <a:srgbClr val="66747E"/>
                </a:solidFill>
              </a:rPr>
              <a:t>Mesh, controller and 5,000-step safety passed; steady state not completed.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6CC5FC-EEB0-40ED-AB2B-39980656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8481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14EE5E-C390-4570-9DBE-F64BEBDA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9719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933"/>
                </a:solidFill>
              </a:defRPr>
            </a:pPr>
            <a:r>
              <a:rPr sz="1275" b="1">
                <a:solidFill>
                  <a:srgbClr val="1F2933"/>
                </a:solidFill>
              </a:rPr>
              <a:t>Wall shear stress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0690A4-8C2F-4A7E-8FC3-A0815285E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71925"/>
            <a:ext cx="2914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47E"/>
                </a:solidFill>
              </a:defRPr>
            </a:pPr>
            <a:r>
              <a:rPr sz="1125" b="0">
                <a:solidFill>
                  <a:srgbClr val="66747E"/>
                </a:solidFill>
              </a:rPr>
              <a:t>Validation is deferred to a later production phase.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98C0C6-C550-4EE3-815E-E0C88F42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53075"/>
            <a:ext cx="11087100" cy="66675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63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CB5A51-56E9-460E-BFA7-F59EFCFD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057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The validated Base field is the production flow solution used for downstream analysis.</a:t>
            </a:r>
          </a:p>
        </p:txBody>
      </p:sp>
    </p:spTree>
    <p:extLst>
      <p:ext uri="{BB962C8B-B14F-4D97-AF65-F5344CB8AC3E}">
        <p14:creationId xmlns:p14="http://schemas.microsoft.com/office/powerpoint/2010/main" val="14288289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2026-09-02T23:46:52.6910000Z</dcterms:created>
  <dcterms:modified xsi:type="dcterms:W3CDTF">2026-09-02T23:46:52.6910000Z</dcterms:modified>
</coreProperties>
</file>