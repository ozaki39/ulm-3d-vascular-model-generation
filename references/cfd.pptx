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40d33062d74951" /><Relationship Type="http://schemas.openxmlformats.org/officeDocument/2006/relationships/extended-properties" Target="/docProps/app.xml" Id="Re6dc0046797e4dbe" /><Relationship Type="http://schemas.openxmlformats.org/officeDocument/2006/relationships/officeDocument" Target="/ppt/presentation.xml" Id="R18b693eaf4fd4a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2d1fdcc9a54afd"/>
  </p:sldMasterIdLst>
  <p:notesMasterIdLst>
    <p:notesMasterId xmlns:r="http://schemas.openxmlformats.org/officeDocument/2006/relationships" r:id="Rd6465588ac30467c"/>
  </p:notesMasterIdLst>
  <p:sldIdLst>
    <p:sldId xmlns:r="http://schemas.openxmlformats.org/officeDocument/2006/relationships" id="256" r:id="R08e9d7bf483d483b"/>
    <p:sldId xmlns:r="http://schemas.openxmlformats.org/officeDocument/2006/relationships" id="257" r:id="Rdbcd0e9241104e90"/>
    <p:sldId xmlns:r="http://schemas.openxmlformats.org/officeDocument/2006/relationships" id="258" r:id="R7506b929b3b84edd"/>
    <p:sldId xmlns:r="http://schemas.openxmlformats.org/officeDocument/2006/relationships" id="259" r:id="Rf150c493c81e4ad1"/>
    <p:sldId xmlns:r="http://schemas.openxmlformats.org/officeDocument/2006/relationships" id="260" r:id="Re2bd0c908b854658"/>
    <p:sldId xmlns:r="http://schemas.openxmlformats.org/officeDocument/2006/relationships" id="261" r:id="Rb7b41bc4264a4420"/>
    <p:sldId xmlns:r="http://schemas.openxmlformats.org/officeDocument/2006/relationships" id="262" r:id="R891fe0c576c043a0"/>
    <p:sldId xmlns:r="http://schemas.openxmlformats.org/officeDocument/2006/relationships" id="263" r:id="R573237f4f3cb49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616160e64c46a7" /><Relationship Type="http://schemas.openxmlformats.org/officeDocument/2006/relationships/slideMaster" Target="/ppt/slideMasters/slideMaster1.xml" Id="Rd52d1fdcc9a54afd" /><Relationship Type="http://schemas.openxmlformats.org/officeDocument/2006/relationships/notesMaster" Target="/ppt/notesMasters/notesMaster1.xml" Id="Rd6465588ac30467c" /><Relationship Type="http://schemas.openxmlformats.org/officeDocument/2006/relationships/presProps" Target="/ppt/presProps.xml" Id="R359c544695a84d7f" /><Relationship Type="http://schemas.openxmlformats.org/officeDocument/2006/relationships/tableStyles" Target="/ppt/tableStyles.xml" Id="Rdb6840f7c9564ef0" /><Relationship Type="http://schemas.openxmlformats.org/officeDocument/2006/relationships/slide" Target="/ppt/slides/slide1.xml" Id="R08e9d7bf483d483b" /><Relationship Type="http://schemas.openxmlformats.org/officeDocument/2006/relationships/slide" Target="/ppt/slides/slide2.xml" Id="Rdbcd0e9241104e90" /><Relationship Type="http://schemas.openxmlformats.org/officeDocument/2006/relationships/slide" Target="/ppt/slides/slide3.xml" Id="R7506b929b3b84edd" /><Relationship Type="http://schemas.openxmlformats.org/officeDocument/2006/relationships/slide" Target="/ppt/slides/slide4.xml" Id="Rf150c493c81e4ad1" /><Relationship Type="http://schemas.openxmlformats.org/officeDocument/2006/relationships/slide" Target="/ppt/slides/slide5.xml" Id="Re2bd0c908b854658" /><Relationship Type="http://schemas.openxmlformats.org/officeDocument/2006/relationships/slide" Target="/ppt/slides/slide6.xml" Id="Rb7b41bc4264a4420" /><Relationship Type="http://schemas.openxmlformats.org/officeDocument/2006/relationships/slide" Target="/ppt/slides/slide7.xml" Id="R891fe0c576c043a0" /><Relationship Type="http://schemas.openxmlformats.org/officeDocument/2006/relationships/slide" Target="/ppt/slides/slide8.xml" Id="R573237f4f3cb49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ac820577844b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b494e0b55e4a47" /><Relationship Type="http://schemas.openxmlformats.org/officeDocument/2006/relationships/notesMaster" Target="/ppt/notesMasters/notesMaster1.xml" Id="R42adb4835a0b43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a9f277623f416f" /><Relationship Type="http://schemas.openxmlformats.org/officeDocument/2006/relationships/notesMaster" Target="/ppt/notesMasters/notesMaster1.xml" Id="Rbbf0445155e940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447c3fa623425e" /><Relationship Type="http://schemas.openxmlformats.org/officeDocument/2006/relationships/notesMaster" Target="/ppt/notesMasters/notesMaster1.xml" Id="Rb83251e7e3b940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5fd92aea87420d" /><Relationship Type="http://schemas.openxmlformats.org/officeDocument/2006/relationships/notesMaster" Target="/ppt/notesMasters/notesMaster1.xml" Id="R3b4dece9d61342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dbfcb130084e0a" /><Relationship Type="http://schemas.openxmlformats.org/officeDocument/2006/relationships/notesMaster" Target="/ppt/notesMasters/notesMaster1.xml" Id="R13fb5f049b6341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9d44f5b93c4c8a" /><Relationship Type="http://schemas.openxmlformats.org/officeDocument/2006/relationships/notesMaster" Target="/ppt/notesMasters/notesMaster1.xml" Id="R5828c830838b4a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4c2e95fb674bcb" /><Relationship Type="http://schemas.openxmlformats.org/officeDocument/2006/relationships/notesMaster" Target="/ppt/notesMasters/notesMaster1.xml" Id="R91435bc217d542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6ebaf06f8d4edc" /><Relationship Type="http://schemas.openxmlformats.org/officeDocument/2006/relationships/notesMaster" Target="/ppt/notesMasters/notesMaster1.xml" Id="Rbe45bf312a2e44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https://github.com/OZAKI39/ulm-3d-vascular-model-generation/blob/codex/cfd-wall-force-numerics-validated-sync-20260830/outputs/cfd_flow/production_tau1_base_promotion_anchor003274_20260902_013637/flow/production_steady_flow_field_manifest.json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https://github.com/OZAKI39/ulm-3d-vascular-model-generation/blob/codex/cfd-wall-force-numerics-validated-sync-20260830/outputs/cfd_flow/production_tau1_base_promotion_anchor003274_20260902_013637/visualization/interactive_v3_redesign/01_after_velocity_overview.json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https://github.com/OZAKI39/ulm-3d-vascular-model-generation/blob/codex/cfd-wall-force-numerics-validated-sync-20260830/outputs/cfd_preprocess/global_to_roi_anchor003274_20260825_183628/qc/run_summary.json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https://github.com/OZAKI39/ulm-3d-vascular-model-generation/blob/codex/cfd-wall-force-numerics-validated-sync-20260830/outputs/cfd_surface_prepare/vmtk_tps_boundarynormal_crossseam_finalized_recovery_anchor003274_20260826_221611/qc/final_surface_qc.json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https://github.com/OZAKI39/ulm-3d-vascular-model-generation/blob/codex/cfd-wall-force-numerics-validated-sync-20260830/outputs/cfd_flow/production_tau1_base_promotion_anchor003274_20260902_013637/qc/run_summary.json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https://github.com/OZAKI39/ulm-3d-vascular-model-generation/blob/codex/cfd-wall-force-numerics-validated-sync-20260830/outputs/cfd_preprocess/global_to_roi_anchor003274_20260825_183628/qc/run_summary.json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https://github.com/OZAKI39/ulm-3d-vascular-model-generation/blob/codex/cfd-wall-force-numerics-validated-sync-20260830/outputs/cfd_preprocess/global_to_roi_anchor003274_20260825_183628/qc/port_transfer_qc.json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surface_prepare/vmtk_tps_boundarynormal_crossseam_finalized_recovery_anchor003274_20260826_221611/bc/boundary_conditions_vmtk_boundarynormal_crossseam.json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https://github.com/OZAKI39/ulm-3d-vascular-model-generation/blob/codex/cfd-wall-force-numerics-validated-sync-20260830/utils/cfd_preprocess/one_d_flow.py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https://github.com/OZAKI39/ulm-3d-vascular-model-generation/blob/codex/cfd-wall-force-numerics-validated-sync-20260830/utils/cfd_preprocess/port_transfer.py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https://github.com/OZAKI39/ulm-3d-vascular-model-generation/blob/codex/cfd-wall-force-numerics-validated-sync-20260830/utils/cfd_surface_prepare/vmtk_qc.py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https://github.com/OZAKI39/ulm-3d-vascular-model-generation/blob/codex/cfd-wall-force-numerics-validated-sync-20260830/outputs/cfd_flow/healthy_mouse_capillary_calibration_anchor003274_20260829_180310/qc/healthy_flow_target_calculation.json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https://github.com/OZAKI39/ulm-3d-vascular-model-generation/blob/codex/cfd-wall-force-numerics-validated-sync-20260830/outputs/cfd_flow/production_tau1_base_promotion_anchor003274_20260902_013637/input/production_numerical_contract.json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https://github.com/OZAKI39/ulm-3d-vascular-model-generation/blob/codex/cfd-wall-force-numerics-validated-sync-20260830/outputs/model_generate/ultraliser_anchor003274_20260825_133350/geometry/lumen_surface_um.vtp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surface_prepare/vmtk_tps_boundarynormal_crossseam_finalized_recovery_anchor003274_20260826_221611/geometry/cfd_surface_vmtk_tps_boundarynormal_crossseam_um.vtp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https://github.com/OZAKI39/ulm-3d-vascular-model-generation/blob/codex/cfd-wall-force-numerics-validated-sync-20260830/outputs/cfd_surface_prepare/vmtk_tps_boundarynormal_crossseam_finalized_recovery_anchor003274_20260826_221611/qc/final_surface_qc.json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https://github.com/OZAKI39/ulm-3d-vascular-model-generation/blob/codex/cfd-wall-force-numerics-validated-sync-20260830/outputs/cfd_flow/production_tau1_base_promotion_anchor003274_20260902_013637/input/production_numerical_contract.json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https://github.com/OZAKI39/ulm-3d-vascular-model-generation/blob/codex/cfd-wall-force-numerics-validated-sync-20260830/outputs/cfd_flow/production_tau1_base_promotion_anchor003274_20260902_013637/flow/production_steady_flow_field_manifest.json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https://github.com/OZAKI39/ulm-3d-vascular-model-generation/blob/codex/cfd-wall-force-numerics-validated-sync-20260830/outputs/cfd_flow/production_tau1_base_promotion_anchor003274_20260902_013637/qc/production_primary_metrics.json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https://github.com/OZAKI39/ulm-3d-vascular-model-generation/blob/codex/cfd-wall-force-numerics-validated-sync-20260830/outputs/cfd_flow/production_tau1_base_promotion_anchor003274_20260902_013637/visualization/interactive_v3_redesign/01_after_velocity_overview.json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https://github.com/OZAKI39/ulm-3d-vascular-model-generation/blob/codex/cfd-wall-force-numerics-validated-sync-20260830/outputs/cfd_flow/production_tau1_base_promotion_anchor003274_20260902_013637/qc/production_primary_metrics.json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https://github.com/OZAKI39/ulm-3d-vascular-model-generation/blob/codex/cfd-wall-force-numerics-validated-sync-20260830/outputs/cfd_flow/production_tau1_base_promotion_anchor003274_20260902_013637/visualization/interactive_v3_redesign/02_after_pressure_overview.json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https://github.com/OZAKI39/ulm-3d-vascular-model-generation/blob/codex/cfd-wall-force-numerics-validated-sync-20260830/outputs/cfd_flow/production_tau1_base_promotion_anchor003274_20260902_013637/qc/production_steady_qc.json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https://github.com/OZAKI39/ulm-3d-vascular-model-generation/blob/codex/cfd-wall-force-numerics-validated-sync-20260830/outputs/cfd_flow/production_tau1_base_promotion_anchor003274_20260902_013637/qc/production_full_timestep_v2.json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https://github.com/OZAKI39/ulm-3d-vascular-model-generation/blob/codex/cfd-wall-force-numerics-validated-sync-20260830/outputs/cfd_flow/production_tau1_base_promotion_anchor003274_20260902_013637/qc/two_grid_resolution_sensitivity.json</a:t>
            </a:r>
          </a:p>
          <a:p xmlns:a="http://schemas.openxmlformats.org/drawingml/2006/main">
            <a:r>
              <a:t>- https://github.com/OZAKI39/ulm-3d-vascular-model-generation/blob/codex/cfd-wall-force-numerics-validated-sync-20260830/outputs/cfd_flow/production_tau1_base_promotion_anchor003274_20260902_013637/qc/run_summary.json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77af313c843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b0218fd13c40e8" /><Relationship Type="http://schemas.openxmlformats.org/officeDocument/2006/relationships/slideLayout" Target="/ppt/slideLayouts/slideLayout1.xml" Id="R35aa52cb7b4446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aa52cb7b4446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e401077b44977" /><Relationship Type="http://schemas.openxmlformats.org/officeDocument/2006/relationships/image" Target="/ppt/media/image.png" Id="Rf37e854226a24cf0" /><Relationship Type="http://schemas.openxmlformats.org/officeDocument/2006/relationships/notesSlide" Target="/ppt/notesSlides/notesSlide1.xml" Id="R45fb9c6a67c444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cba9c84034420" /><Relationship Type="http://schemas.openxmlformats.org/officeDocument/2006/relationships/image" Target="/ppt/media/image2.png" Id="R06ef710f93674f05" /><Relationship Type="http://schemas.openxmlformats.org/officeDocument/2006/relationships/image" Target="/ppt/media/image3.png" Id="Rd2d00e27299a4632" /><Relationship Type="http://schemas.openxmlformats.org/officeDocument/2006/relationships/image" Target="/ppt/media/image4.png" Id="R0de50503837640a5" /><Relationship Type="http://schemas.openxmlformats.org/officeDocument/2006/relationships/notesSlide" Target="/ppt/notesSlides/notesSlide2.xml" Id="R4fe7f93a04744d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3efc634f848a9" /><Relationship Type="http://schemas.openxmlformats.org/officeDocument/2006/relationships/image" Target="/ppt/media/image5.png" Id="Rc25c206abcd747dc" /><Relationship Type="http://schemas.openxmlformats.org/officeDocument/2006/relationships/image" Target="/ppt/media/image6.png" Id="Rf6fb36e636b54bf6" /><Relationship Type="http://schemas.openxmlformats.org/officeDocument/2006/relationships/notesSlide" Target="/ppt/notesSlides/notesSlide3.xml" Id="Rb9680c7c30b345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7212b665e463b" /><Relationship Type="http://schemas.openxmlformats.org/officeDocument/2006/relationships/image" Target="/ppt/media/image7.png" Id="Ra758dfdc999c4d08" /><Relationship Type="http://schemas.openxmlformats.org/officeDocument/2006/relationships/notesSlide" Target="/ppt/notesSlides/notesSlide4.xml" Id="Rc322b8047d634a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570f5680e470a" /><Relationship Type="http://schemas.openxmlformats.org/officeDocument/2006/relationships/notesSlide" Target="/ppt/notesSlides/notesSlide5.xml" Id="Rdf23f5cc92b741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5f6d1482842b3" /><Relationship Type="http://schemas.openxmlformats.org/officeDocument/2006/relationships/image" Target="/ppt/media/image8.png" Id="Ra9301ccf68354abe" /><Relationship Type="http://schemas.openxmlformats.org/officeDocument/2006/relationships/notesSlide" Target="/ppt/notesSlides/notesSlide6.xml" Id="R97690cadfcd642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e97e9e16e427f" /><Relationship Type="http://schemas.openxmlformats.org/officeDocument/2006/relationships/image" Target="/ppt/media/image9.png" Id="R528c3d4c778f4dd8" /><Relationship Type="http://schemas.openxmlformats.org/officeDocument/2006/relationships/chart" Target="/ppt/slides/charts/chart1.xml" Id="Rf1d72ce629c448b1" /><Relationship Type="http://schemas.openxmlformats.org/officeDocument/2006/relationships/notesSlide" Target="/ppt/notesSlides/notesSlide7.xml" Id="R7bdd36e2608a43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79b8b96ca49aa" /><Relationship Type="http://schemas.openxmlformats.org/officeDocument/2006/relationships/notesSlide" Target="/ppt/notesSlides/notesSlide8.xml" Id="Re6d340782f594e6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1"/>
        <c:ser>
          <c:idx val="0"/>
          <c:order val="0"/>
          <c:tx>
            <c:v>Share</c:v>
          </c:tx>
          <c:spPr>
            <a:solidFill xmlns:a="http://schemas.openxmlformats.org/drawingml/2006/main">
              <a:srgbClr val="0072B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072B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9E7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C79A7"/>
              </a:solidFill>
            </c:spPr>
          </c:dPt>
          <c:cat>
            <c:strLit>
              <c:ptCount val="3"/>
              <c:pt idx="0">
                <c:v>Outlet 1</c:v>
              </c:pt>
              <c:pt idx="1">
                <c:v>Outlet 2</c:v>
              </c:pt>
              <c:pt idx="2">
                <c:v>Outlet 3</c:v>
              </c:pt>
            </c:strLit>
          </c:cat>
          <c:val>
            <c:numLit>
              <c:formatCode>0.0</c:formatCode>
              <c:ptCount val="3"/>
              <c:pt idx="0">
                <c:v>5.20383163811772</c:v>
              </c:pt>
              <c:pt idx="1">
                <c:v>73.18288235826557</c:v>
              </c:pt>
              <c:pt idx="2">
                <c:v>21.61328600361672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ED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CDD7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47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47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99D0D-622A-451C-BD9F-BDAA0D7F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A5D7C-FABA-436C-923E-077F902C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7F76"/>
                </a:solidFill>
              </a:defRPr>
            </a:pPr>
            <a:r>
              <a:rPr sz="900" b="1">
                <a:solidFill>
                  <a:srgbClr val="2A7F76"/>
                </a:solidFill>
              </a:rPr>
              <a:t>COMPUTATIONAL METHODS · MOUSE MICROVASCULAR 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EF444-D065-4892-9A45-FF30AEE6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933"/>
                </a:solidFill>
              </a:defRPr>
            </a:pPr>
            <a:r>
              <a:rPr sz="3600" b="1">
                <a:solidFill>
                  <a:srgbClr val="1F2933"/>
                </a:solidFill>
              </a:rPr>
              <a:t>From 1D Vascular Data to Validated 3D CFD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4BA75-76C5-40CC-AF55-A4E72489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47E"/>
                </a:solidFill>
              </a:defRPr>
            </a:pPr>
            <a:r>
              <a:rPr sz="1575" b="0">
                <a:solidFill>
                  <a:srgbClr val="66747E"/>
                </a:solidFill>
              </a:rPr>
              <a:t>A three-stage workflow for constructing, preparing and solving flow in a mouse microvascular ROI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7E74D-B294-4A4C-8D5E-6CA6CCAD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2C7DB-C8FB-4D8F-ACC0-C723F5CC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57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A5F"/>
                </a:solidFill>
              </a:defRPr>
            </a:pPr>
            <a:r>
              <a:rPr sz="1275" b="1">
                <a:solidFill>
                  <a:srgbClr val="163A5F"/>
                </a:solidFill>
              </a:rPr>
              <a:t>1D boundary data   →   prepared lumen   →   steady 3D 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5D630-20D6-4AF4-A577-FDA6AE21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14350"/>
            <a:ext cx="6096000" cy="5753100"/>
          </a:xfrm>
          <a:prstGeom xmlns:a="http://schemas.openxmlformats.org/drawingml/2006/main" prst="roundRect">
            <a:avLst>
              <a:gd name="adj" fmla="val 33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e854226a24cf0"/>
          <a:stretch xmlns:a="http://schemas.openxmlformats.org/drawingml/2006/main"/>
        </p:blipFill>
        <p:spPr>
          <a:xfrm xmlns:a="http://schemas.openxmlformats.org/drawingml/2006/main">
            <a:off x="5676900" y="1300179"/>
            <a:ext cx="5829300" cy="41814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58D1A-8005-454E-ABBE-BF351EFE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9600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47E"/>
                </a:solidFill>
              </a:defRPr>
            </a:pPr>
            <a:r>
              <a:rPr sz="825" b="0">
                <a:solidFill>
                  <a:srgbClr val="66747E"/>
                </a:solidFill>
              </a:rPr>
              <a:t>Accepted Base · physical velocity magnitude (mm s⁻¹)</a:t>
            </a:r>
          </a:p>
        </p:txBody>
      </p:sp>
    </p:spTree>
    <p:extLst>
      <p:ext uri="{BB962C8B-B14F-4D97-AF65-F5344CB8AC3E}">
        <p14:creationId xmlns:p14="http://schemas.microsoft.com/office/powerpoint/2010/main" val="20989208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3C2053-9666-45DB-B8AD-0496345C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Three stages turn vascular data into a validated 3D flow field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090C5-035B-41BC-B01A-968AE119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95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A7F76"/>
                </a:solidFill>
              </a:defRPr>
            </a:pPr>
            <a:r>
              <a:rPr sz="900" b="1">
                <a:solidFill>
                  <a:srgbClr val="2A7F76"/>
                </a:solidFill>
              </a:rPr>
              <a:t>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63E15-17EB-4738-92FC-C5C09653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C3112-0767-4A7F-BAE2-F1960FD0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2ECB3-8020-443D-88BB-863BE2EB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47E"/>
                </a:solidFill>
              </a:defRPr>
            </a:pPr>
            <a:r>
              <a:rPr sz="825" b="0">
                <a:solidFill>
                  <a:srgbClr val="66747E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DBF87-EEC5-4297-B500-8B98A79E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124200" cy="4400550"/>
          </a:xfrm>
          <a:prstGeom xmlns:a="http://schemas.openxmlformats.org/drawingml/2006/main" prst="roundRect">
            <a:avLst>
              <a:gd name="adj" fmla="val 12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38C13-F26B-453D-A1EA-5F063289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124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D7D57-F383-4691-948A-FA65A43E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7F76"/>
                </a:solidFill>
              </a:defRPr>
            </a:pPr>
            <a:r>
              <a:rPr sz="1050" b="1">
                <a:solidFill>
                  <a:srgbClr val="2A7F76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A5CD5-4FAF-48A5-BA77-0B133B21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</a:defRPr>
            </a:pPr>
            <a:r>
              <a:rPr sz="1650" b="1">
                <a:solidFill>
                  <a:srgbClr val="1F2933"/>
                </a:solidFill>
              </a:rPr>
              <a:t>1D boundary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E4BAD-EDEC-4B77-A112-E09BC0CB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2743200" cy="200025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f710f93674f05"/>
          <a:stretch xmlns:a="http://schemas.openxmlformats.org/drawingml/2006/main"/>
        </p:blipFill>
        <p:spPr>
          <a:xfrm xmlns:a="http://schemas.openxmlformats.org/drawingml/2006/main">
            <a:off x="841572" y="2543175"/>
            <a:ext cx="2622157" cy="1924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790DE-394D-4B2C-B10B-A6E2F755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47E"/>
                </a:solidFill>
              </a:defRPr>
            </a:pPr>
            <a:r>
              <a:rPr sz="1275" b="0">
                <a:solidFill>
                  <a:srgbClr val="66747E"/>
                </a:solidFill>
              </a:rPr>
              <a:t>A reduced network supplies flow and pressure at the local ports.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01526-C734-43C9-AED1-CC9B3E5F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47800"/>
            <a:ext cx="3124200" cy="4400550"/>
          </a:xfrm>
          <a:prstGeom xmlns:a="http://schemas.openxmlformats.org/drawingml/2006/main" prst="roundRect">
            <a:avLst>
              <a:gd name="adj" fmla="val 12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E98AD-4AD5-40BB-96AD-A4E3970D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47800"/>
            <a:ext cx="3124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96380-8074-45EC-91A2-B879864B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7F76"/>
                </a:solidFill>
              </a:defRPr>
            </a:pPr>
            <a:r>
              <a:rPr sz="1050" b="1">
                <a:solidFill>
                  <a:srgbClr val="2A7F76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44BE2-6E9E-4270-AB0C-DFB9B69A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</a:defRPr>
            </a:pPr>
            <a:r>
              <a:rPr sz="1650" b="1">
                <a:solidFill>
                  <a:srgbClr val="1F2933"/>
                </a:solidFill>
              </a:rPr>
              <a:t>CFD-ready surface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6B539-9698-4BFC-A6EC-AF02C426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05075"/>
            <a:ext cx="2743200" cy="200025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00e27299a4632"/>
          <a:stretch xmlns:a="http://schemas.openxmlformats.org/drawingml/2006/main"/>
        </p:blipFill>
        <p:spPr>
          <a:xfrm xmlns:a="http://schemas.openxmlformats.org/drawingml/2006/main">
            <a:off x="4533900" y="2671763"/>
            <a:ext cx="2667000" cy="166687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1D4ED4-9BCD-404D-9C95-41ABF8F2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05350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47E"/>
                </a:solidFill>
              </a:defRPr>
            </a:pPr>
            <a:r>
              <a:rPr sz="1275" b="0">
                <a:solidFill>
                  <a:srgbClr val="66747E"/>
                </a:solidFill>
              </a:rPr>
              <a:t>Extensions and caps create clean regions for boundary conditions.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98E99-D9A3-4505-9616-DBB6DB35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47800"/>
            <a:ext cx="3124200" cy="4400550"/>
          </a:xfrm>
          <a:prstGeom xmlns:a="http://schemas.openxmlformats.org/drawingml/2006/main" prst="roundRect">
            <a:avLst>
              <a:gd name="adj" fmla="val 12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D40442-5422-407D-B9AF-09BA4DD5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47800"/>
            <a:ext cx="3124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8C2344-274F-4039-8BF5-676D9523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7F76"/>
                </a:solidFill>
              </a:defRPr>
            </a:pPr>
            <a:r>
              <a:rPr sz="1050" b="1">
                <a:solidFill>
                  <a:srgbClr val="2A7F76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D5C35-DD75-43CB-BD5B-65D9FE18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</a:defRPr>
            </a:pPr>
            <a:r>
              <a:rPr sz="1650" b="1">
                <a:solidFill>
                  <a:srgbClr val="1F2933"/>
                </a:solidFill>
              </a:rPr>
              <a:t>3D flow solution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3F59F-E6EC-4148-93E4-2B0DC7B5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05075"/>
            <a:ext cx="2743200" cy="200025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50503837640a5"/>
          <a:stretch xmlns:a="http://schemas.openxmlformats.org/drawingml/2006/main"/>
        </p:blipFill>
        <p:spPr>
          <a:xfrm xmlns:a="http://schemas.openxmlformats.org/drawingml/2006/main">
            <a:off x="8248650" y="2548661"/>
            <a:ext cx="2667000" cy="1913078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C7CD07-D44A-4674-B6CE-06101870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05350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47E"/>
                </a:solidFill>
              </a:defRPr>
            </a:pPr>
            <a:r>
              <a:rPr sz="1275" b="0">
                <a:solidFill>
                  <a:srgbClr val="66747E"/>
                </a:solidFill>
              </a:rPr>
              <a:t>A validated lattice model resolves steady velocity and gauge pressure.</a:t>
            </a:r>
          </a:p>
        </p:txBody>
      </p:sp>
      <p:cxnSp>
        <p:nvCxnSpPr>
          <p:cNvPr id="56" name=""/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714750" y="364807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3A5F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3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429500" y="364807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A7F76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D01618-C4FC-4606-B4CC-035D8B00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48375"/>
            <a:ext cx="1017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A5F"/>
                </a:solidFill>
              </a:defRPr>
            </a:pPr>
            <a:r>
              <a:rPr sz="1125" b="1">
                <a:solidFill>
                  <a:srgbClr val="163A5F"/>
                </a:solidFill>
              </a:rPr>
              <a:t>Scientific hand-off at each stage: boundary values → geometry → validated field</a:t>
            </a:r>
          </a:p>
        </p:txBody>
      </p:sp>
    </p:spTree>
    <p:extLst>
      <p:ext uri="{BB962C8B-B14F-4D97-AF65-F5344CB8AC3E}">
        <p14:creationId xmlns:p14="http://schemas.microsoft.com/office/powerpoint/2010/main" val="1987299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BA62A0-1D15-4D7A-A385-4D232C1B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The 1D model supplies consistent 3D boundary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E35B6-E823-48F9-A874-06C60784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95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A7F76"/>
                </a:solidFill>
              </a:defRPr>
            </a:pPr>
            <a:r>
              <a:rPr sz="900" b="1">
                <a:solidFill>
                  <a:srgbClr val="2A7F76"/>
                </a:solidFill>
              </a:rPr>
              <a:t>STAGE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3A0FB-644E-4E18-812E-E8521372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8E351-1F92-41F9-842E-123B21F3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01488-0457-4CAF-8BB8-A783E693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47E"/>
                </a:solidFill>
              </a:defRPr>
            </a:pPr>
            <a:r>
              <a:rPr sz="825" b="0">
                <a:solidFill>
                  <a:srgbClr val="66747E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1FD0D-FF59-48D9-A9E1-21C57FEE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4953000" cy="2238375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c206abcd747dc"/>
          <a:stretch xmlns:a="http://schemas.openxmlformats.org/drawingml/2006/main"/>
        </p:blipFill>
        <p:spPr>
          <a:xfrm xmlns:a="http://schemas.openxmlformats.org/drawingml/2006/main">
            <a:off x="1581571" y="1333500"/>
            <a:ext cx="2894757" cy="21240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C38AC-8D6C-4CDE-AB5A-8088D78C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A5F"/>
                </a:solidFill>
              </a:defRPr>
            </a:pPr>
            <a:r>
              <a:rPr sz="975" b="1">
                <a:solidFill>
                  <a:srgbClr val="163A5F"/>
                </a:solidFill>
              </a:rPr>
              <a:t>Global network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DD0C0-54E4-4995-A3E6-647E2151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4953000" cy="2381250"/>
          </a:xfrm>
          <a:prstGeom xmlns:a="http://schemas.openxmlformats.org/drawingml/2006/main" prst="roundRect">
            <a:avLst>
              <a:gd name="adj" fmla="val 1200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b36e636b54bf6"/>
          <a:stretch xmlns:a="http://schemas.openxmlformats.org/drawingml/2006/main"/>
        </p:blipFill>
        <p:spPr>
          <a:xfrm xmlns:a="http://schemas.openxmlformats.org/drawingml/2006/main">
            <a:off x="1563103" y="3724275"/>
            <a:ext cx="2931695" cy="22669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9688C-18B5-4349-8207-320248F6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A5F"/>
                </a:solidFill>
              </a:defRPr>
            </a:pPr>
            <a:r>
              <a:rPr sz="975" b="1">
                <a:solidFill>
                  <a:srgbClr val="163A5F"/>
                </a:solidFill>
              </a:rPr>
              <a:t>Local ROI 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3B1CE-38A4-4C22-871F-4A811FA2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276350"/>
            <a:ext cx="5867400" cy="4772025"/>
          </a:xfrm>
          <a:prstGeom xmlns:a="http://schemas.openxmlformats.org/drawingml/2006/main" prst="roundRect">
            <a:avLst>
              <a:gd name="adj" fmla="val 798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3B183-26E7-423C-AF09-10D77D7D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38275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</a:defRPr>
            </a:pPr>
            <a:r>
              <a:rPr sz="1650" b="1">
                <a:solidFill>
                  <a:srgbClr val="1F2933"/>
                </a:solidFill>
              </a:rPr>
              <a:t>How the 3D boundary conditions are constructed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DB7AF-9B13-43A3-9BB8-6D2AC7D9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537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4BA65-653C-47B2-A208-D68F7EF0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5F"/>
                </a:solidFill>
              </a:defRPr>
            </a:pPr>
            <a:r>
              <a:rPr sz="1350" b="1">
                <a:solidFill>
                  <a:srgbClr val="163A5F"/>
                </a:solidFill>
              </a:rPr>
              <a:t>1 · Solve the 1D hydraulic network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99199-8AD5-4EE3-B101-DB47F462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9825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</a:defRPr>
            </a:pPr>
            <a:r>
              <a:rPr sz="1800" b="1">
                <a:solidFill>
                  <a:srgbClr val="1F2933"/>
                </a:solidFill>
              </a:rPr>
              <a:t>Q = Δp / 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66795-4460-4920-A1F1-0767871C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4288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R = (8μ/π) ∫₀ᴸ ds / r(s)⁴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19616-5877-4FAD-8FE7-7E5B1665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62250"/>
            <a:ext cx="512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7E"/>
                </a:solidFill>
              </a:defRPr>
            </a:pPr>
            <a:r>
              <a:rPr sz="1200" b="0">
                <a:solidFill>
                  <a:srgbClr val="66747E"/>
                </a:solidFill>
              </a:rPr>
              <a:t>Pressure drop, viscosity and vessel radius determine segment flow.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5A0B3-FB8F-4BAF-BBFC-E4ABB96C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33725"/>
            <a:ext cx="537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82A02-2794-41BD-89D0-BF04C91D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7F76"/>
                </a:solidFill>
              </a:defRPr>
            </a:pPr>
            <a:r>
              <a:rPr sz="1350" b="1">
                <a:solidFill>
                  <a:srgbClr val="2A7F76"/>
                </a:solidFill>
              </a:rPr>
              <a:t>2 · Map 1D pressure onto the prepared 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8286F-72DA-443A-8EFF-20428FEB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4610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p_cut = p_parent − Q R(0→cut)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31933A-BB53-4B97-AFA7-33EC7D51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6715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</a:defRPr>
            </a:pPr>
            <a:r>
              <a:rPr sz="1425" b="1">
                <a:solidFill>
                  <a:srgbClr val="1F2933"/>
                </a:solidFill>
              </a:rPr>
              <a:t>p_out,i^3D = p_cut,i − Q_i^1D R_i,extension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F052D8-8359-4580-A958-82919583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4337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7E"/>
                </a:solidFill>
              </a:defRPr>
            </a:pPr>
            <a:r>
              <a:rPr sz="1200" b="0">
                <a:solidFill>
                  <a:srgbClr val="66747E"/>
                </a:solidFill>
              </a:rPr>
              <a:t>The second term removes the artificial extension pressure loss.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00D68B-CD21-41ED-ABDF-458D17CD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67225"/>
            <a:ext cx="537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2161BD-D715-4D06-B44C-06357BE1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9105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9E73"/>
                </a:solidFill>
              </a:defRPr>
            </a:pPr>
            <a:r>
              <a:rPr sz="1350" b="1">
                <a:solidFill>
                  <a:srgbClr val="009E73"/>
                </a:solidFill>
              </a:rPr>
              <a:t>3 · Apply the final solver boundaries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DD80A8-5815-413F-B4A2-031E23A9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33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5E00"/>
                </a:solidFill>
              </a:defRPr>
            </a:pPr>
            <a:r>
              <a:rPr sz="975" b="1">
                <a:solidFill>
                  <a:srgbClr val="D55E00"/>
                </a:solidFill>
              </a:rPr>
              <a:t>INLET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33D5D2-7ABB-40FF-91A5-EEF5DCF4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05375"/>
            <a:ext cx="4419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Q_target = u_mean,healthy A_inlet = ∫_A u·n 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E01D70-9677-499D-8E35-73204D8F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339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7E"/>
                </a:solidFill>
              </a:defRPr>
            </a:pPr>
            <a:r>
              <a:rPr sz="1200" b="0">
                <a:solidFill>
                  <a:srgbClr val="66747E"/>
                </a:solidFill>
              </a:rPr>
              <a:t>adaptive_flux_pressure adjusts inlet pressure to match Q_target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E5A3AD-FB9D-4AD4-83F2-FDCEF246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292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2B2"/>
                </a:solidFill>
              </a:defRPr>
            </a:pPr>
            <a:r>
              <a:rPr sz="975" b="1">
                <a:solidFill>
                  <a:srgbClr val="0072B2"/>
                </a:solidFill>
              </a:rPr>
              <a:t>OUTLETS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9C7A35-EC54-4138-8E72-E1AC9621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00675"/>
            <a:ext cx="367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pressure_eq: p_gauge,i = p_out,i^3D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C8ED93-841E-47F6-BEC2-1EE4AD0E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6959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3A5F"/>
                </a:solidFill>
              </a:defRPr>
            </a:pPr>
            <a:r>
              <a:rPr sz="975" b="1">
                <a:solidFill>
                  <a:srgbClr val="163A5F"/>
                </a:solidFill>
              </a:rPr>
              <a:t>WALL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6CA23F-7114-429A-B42D-480F236C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6737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wall_libb: u_wall = 0</a:t>
            </a:r>
          </a:p>
        </p:txBody>
      </p:sp>
    </p:spTree>
    <p:extLst>
      <p:ext uri="{BB962C8B-B14F-4D97-AF65-F5344CB8AC3E}">
        <p14:creationId xmlns:p14="http://schemas.microsoft.com/office/powerpoint/2010/main" val="84832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E434CF-E81F-4281-A9E1-773C8041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Surface preparation creates a clean solver-ready vascular domain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EFDE6-8106-4176-B447-39E37EF1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95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A7F76"/>
                </a:solidFill>
              </a:defRPr>
            </a:pPr>
            <a:r>
              <a:rPr sz="900" b="1">
                <a:solidFill>
                  <a:srgbClr val="2A7F76"/>
                </a:solidFill>
              </a:rPr>
              <a:t>STAGE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6780E-D153-4C7F-86CA-CED13A3B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8E819-BE36-418D-96A5-557A8EDB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A2D76-08E7-4FEA-8707-9D64D052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47E"/>
                </a:solidFill>
              </a:defRPr>
            </a:pPr>
            <a:r>
              <a:rPr sz="825" b="0">
                <a:solidFill>
                  <a:srgbClr val="66747E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BEF7D-DF52-4452-AF77-83DED3D9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11087100" cy="3905250"/>
          </a:xfrm>
          <a:prstGeom xmlns:a="http://schemas.openxmlformats.org/drawingml/2006/main" prst="roundRect">
            <a:avLst>
              <a:gd name="adj" fmla="val 732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8dfdc999c4d08"/>
          <a:stretch xmlns:a="http://schemas.openxmlformats.org/drawingml/2006/main"/>
        </p:blipFill>
        <p:spPr>
          <a:xfrm xmlns:a="http://schemas.openxmlformats.org/drawingml/2006/main">
            <a:off x="628650" y="1542672"/>
            <a:ext cx="10934700" cy="339165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38AF6-3A9E-43E1-B3AB-F5DFD936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85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47E"/>
                </a:solidFill>
              </a:defRPr>
            </a:pPr>
            <a:r>
              <a:rPr sz="1125" b="1">
                <a:solidFill>
                  <a:srgbClr val="66747E"/>
                </a:solidFill>
              </a:rPr>
              <a:t>BEFORE · open cut 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97437-FFA1-4A15-A9A6-0BBAD4EF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85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7F76"/>
                </a:solidFill>
              </a:defRPr>
            </a:pPr>
            <a:r>
              <a:rPr sz="1125" b="1">
                <a:solidFill>
                  <a:srgbClr val="2A7F76"/>
                </a:solidFill>
              </a:rPr>
              <a:t>AFTER · extended and capped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0539E-2D4E-4131-A409-F472F0EE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5425"/>
            <a:ext cx="0" cy="3448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7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23E7D-D0B6-415B-9E77-694DAFF2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809625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53316-6788-4A68-9363-3A14FDE2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5F"/>
                </a:solidFill>
              </a:defRPr>
            </a:pPr>
            <a:r>
              <a:rPr sz="1350" b="1">
                <a:solidFill>
                  <a:srgbClr val="163A5F"/>
                </a:solidFill>
              </a:rPr>
              <a:t>Core preserved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0AFE5-4E20-4FC6-9649-612DFB9E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E"/>
                </a:solidFill>
              </a:defRPr>
            </a:pPr>
            <a:r>
              <a:rPr sz="1050" b="0">
                <a:solidFill>
                  <a:srgbClr val="66747E"/>
                </a:solidFill>
              </a:rPr>
              <a:t>0 μm max far-core motion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676FB-FD5B-43D6-98FB-2F99BE66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81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A7F76"/>
                </a:solidFill>
              </a:defRPr>
            </a:pPr>
            <a:r>
              <a:rPr sz="1350" b="1">
                <a:solidFill>
                  <a:srgbClr val="2A7F76"/>
                </a:solidFill>
              </a:rPr>
              <a:t>Boundary-ready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25584-BE7B-4924-B15A-CC21B7A6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674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E"/>
                </a:solidFill>
              </a:defRPr>
            </a:pPr>
            <a:r>
              <a:rPr sz="1050" b="0">
                <a:solidFill>
                  <a:srgbClr val="66747E"/>
                </a:solidFill>
              </a:rPr>
              <a:t>4 capped ports · 1 component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A2589-C8F6-405F-AF9B-36E731EA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5816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</a:defRPr>
            </a:pPr>
            <a:r>
              <a:rPr sz="1350" b="1">
                <a:solidFill>
                  <a:srgbClr val="1F2933"/>
                </a:solidFill>
              </a:rPr>
              <a:t>Geometry QC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5D3A2-1BAA-4D43-A3A7-BBD746E5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8674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E"/>
                </a:solidFill>
              </a:defRPr>
            </a:pPr>
            <a:r>
              <a:rPr sz="1050" b="0">
                <a:solidFill>
                  <a:srgbClr val="66747E"/>
                </a:solidFill>
              </a:rPr>
              <a:t>Watertight · 0 intersections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8F0F5-5DC8-45A6-A836-063704A0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14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DE11C-99FE-4043-B404-0711CE6E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4673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47E"/>
                </a:solidFill>
              </a:defRPr>
            </a:pPr>
            <a:r>
              <a:rPr sz="825" b="0">
                <a:solidFill>
                  <a:srgbClr val="66747E"/>
                </a:solidFill>
              </a:rPr>
              <a:t>Inlet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DE9AED-2287-43D5-81BB-078E1E14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76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6F14F2-A3B0-47DD-B0A5-A578C659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6292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47E"/>
                </a:solidFill>
              </a:defRPr>
            </a:pPr>
            <a:r>
              <a:rPr sz="825" b="0">
                <a:solidFill>
                  <a:srgbClr val="66747E"/>
                </a:solidFill>
              </a:rPr>
              <a:t>Outlet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AFF916-66B9-42B1-B52D-6BC9E7BD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38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C14F50-3848-4ECE-A280-059C9665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7912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47E"/>
                </a:solidFill>
              </a:defRPr>
            </a:pPr>
            <a:r>
              <a:rPr sz="825" b="0">
                <a:solidFill>
                  <a:srgbClr val="66747E"/>
                </a:solidFill>
              </a:rPr>
              <a:t>Outlet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753557-5265-4217-8B4F-713539BD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00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9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ED8B6-8C04-4B23-8AC4-CC32D5E4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9531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47E"/>
                </a:solidFill>
              </a:defRPr>
            </a:pPr>
            <a:r>
              <a:rPr sz="825" b="0">
                <a:solidFill>
                  <a:srgbClr val="66747E"/>
                </a:solidFill>
              </a:rPr>
              <a:t>Outlet 3</a:t>
            </a:r>
          </a:p>
        </p:txBody>
      </p:sp>
    </p:spTree>
    <p:extLst>
      <p:ext uri="{BB962C8B-B14F-4D97-AF65-F5344CB8AC3E}">
        <p14:creationId xmlns:p14="http://schemas.microsoft.com/office/powerpoint/2010/main" val="1168348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0C7F45-6FE3-426B-8F57-31A60612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The 3D solver uses a validated lattice-Boltzmann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1DB89-8422-4833-AB35-A076E3F9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95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A7F76"/>
                </a:solidFill>
              </a:defRPr>
            </a:pPr>
            <a:r>
              <a:rPr sz="900" b="1">
                <a:solidFill>
                  <a:srgbClr val="2A7F76"/>
                </a:solidFill>
              </a:rPr>
              <a:t>STAGE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869B7-B3BB-4840-97B4-3F554B47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501C6-D7CC-4E1A-B9CF-197F9D06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19B31-34A8-4AA0-8301-E3F652A3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47E"/>
                </a:solidFill>
              </a:defRPr>
            </a:pPr>
            <a:r>
              <a:rPr sz="825" b="0">
                <a:solidFill>
                  <a:srgbClr val="66747E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AA0C0-A24D-4668-AE76-F082F2CD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47E"/>
                </a:solidFill>
              </a:defRPr>
            </a:pPr>
            <a:r>
              <a:rPr sz="1350" b="0">
                <a:solidFill>
                  <a:srgbClr val="66747E"/>
                </a:solidFill>
              </a:rPr>
              <a:t>A uniform lattice advances local particle populations until the physical flow field becomes steady.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805E7-0552-41D1-B1DB-64ACA05F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667000" cy="1695450"/>
          </a:xfrm>
          <a:prstGeom xmlns:a="http://schemas.openxmlformats.org/drawingml/2006/main" prst="roundRect">
            <a:avLst>
              <a:gd name="adj" fmla="val 28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64C4B-C5B3-459C-B522-F0BE9383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C158E-22F7-4DE5-83F0-96C467B6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Uniform 3D lattice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BB961-C504-451A-9460-FDED48F6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7E"/>
                </a:solidFill>
              </a:defRPr>
            </a:pPr>
            <a:r>
              <a:rPr sz="1200" b="0">
                <a:solidFill>
                  <a:srgbClr val="66747E"/>
                </a:solidFill>
              </a:rPr>
              <a:t>The lumen is represented by 182,320 fluid cells.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506DF-1E57-4BAD-A918-2EBC5C97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57400"/>
            <a:ext cx="2667000" cy="1695450"/>
          </a:xfrm>
          <a:prstGeom xmlns:a="http://schemas.openxmlformats.org/drawingml/2006/main" prst="roundRect">
            <a:avLst>
              <a:gd name="adj" fmla="val 28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574CA-6398-407D-BE1D-E9BFAC5D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5740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D9978-CDAE-4C4B-8A92-3DD05327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241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Stream &amp; collide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0B499-6BE6-4AF7-96FC-03CFF746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8194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7E"/>
                </a:solidFill>
              </a:defRPr>
            </a:pPr>
            <a:r>
              <a:rPr sz="1200" b="0">
                <a:solidFill>
                  <a:srgbClr val="66747E"/>
                </a:solidFill>
              </a:rPr>
              <a:t>D3Q19 populations exchange information locally.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4BB8E-3BBF-403D-B331-EAC9691B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2667000" cy="1695450"/>
          </a:xfrm>
          <a:prstGeom xmlns:a="http://schemas.openxmlformats.org/drawingml/2006/main" prst="roundRect">
            <a:avLst>
              <a:gd name="adj" fmla="val 28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E5133-8D95-4430-9334-5C453398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9D105-F471-42B6-A8A0-E36CAA32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Steady physical field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AC141-A30D-4DB6-9F96-BD400B68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194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47E"/>
                </a:solidFill>
              </a:defRPr>
            </a:pPr>
            <a:r>
              <a:rPr sz="1200" b="0">
                <a:solidFill>
                  <a:srgbClr val="66747E"/>
                </a:solidFill>
              </a:rPr>
              <a:t>Velocity and gauge pressure are recovered in SI units.</a:t>
            </a:r>
          </a:p>
        </p:txBody>
      </p:sp>
      <p:cxnSp>
        <p:nvCxnSpPr>
          <p:cNvPr id="5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33750" y="2905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3A5F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619875" y="2905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A7F76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4AFAF-96C6-4559-872F-DB63624F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981200"/>
            <a:ext cx="1257300" cy="18478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EE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EB990-A69F-4F2B-B68B-58BA0351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1907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A7F76"/>
                </a:solidFill>
              </a:defRPr>
            </a:pPr>
            <a:r>
              <a:rPr sz="900" b="1">
                <a:solidFill>
                  <a:srgbClr val="2A7F76"/>
                </a:solidFill>
              </a:rPr>
              <a:t>DRIVING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009C04-0981-4569-B37D-EE4857DD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43175"/>
            <a:ext cx="99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3A5F"/>
                </a:solidFill>
              </a:defRPr>
            </a:pPr>
            <a:r>
              <a:rPr sz="1200" b="1">
                <a:solidFill>
                  <a:srgbClr val="163A5F"/>
                </a:solidFill>
              </a:rPr>
              <a:t>Adaptive</a:t>
            </a:r>
          </a:p>
          <a:p xmlns:a="http://schemas.openxmlformats.org/drawingml/2006/main">
            <a:pPr algn="ctr">
              <a:defRPr sz="1200" b="1">
                <a:solidFill>
                  <a:srgbClr val="163A5F"/>
                </a:solidFill>
              </a:defRPr>
            </a:pPr>
            <a:r>
              <a:rPr sz="1200" b="1">
                <a:solidFill>
                  <a:srgbClr val="163A5F"/>
                </a:solidFill>
              </a:rPr>
              <a:t>inlet 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FEF0B8-6A14-48CC-80A4-8CA56615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9562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A6ECCB-EC2A-44B8-BC12-004DB2F4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238500"/>
            <a:ext cx="99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3 outlet</a:t>
            </a:r>
          </a:p>
          <a:p xmlns:a="http://schemas.openxmlformats.org/drawingml/2006/main">
            <a:pPr algn="ctr">
              <a:defRPr sz="1125" b="0">
                <a:solidFill>
                  <a:srgbClr val="1F2933"/>
                </a:solidFill>
              </a:defRPr>
            </a:pPr>
            <a:r>
              <a:rPr sz="1125" b="0">
                <a:solidFill>
                  <a:srgbClr val="1F2933"/>
                </a:solidFill>
              </a:rPr>
              <a:t>gauge pressures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309DF4-5499-48CB-85C8-DEC9B966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</a:defRPr>
            </a:pPr>
            <a:r>
              <a:rPr sz="1650" b="1">
                <a:solidFill>
                  <a:srgbClr val="1F2933"/>
                </a:solidFill>
              </a:rPr>
              <a:t>Validated Base configuration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4D895-3443-43DA-B9A9-80BF14C3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3A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877017-74B4-4DC6-8605-E9DD2DDB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47E"/>
                </a:solidFill>
              </a:defRPr>
            </a:pPr>
            <a:r>
              <a:rPr sz="1050" b="1">
                <a:solidFill>
                  <a:srgbClr val="66747E"/>
                </a:solidFill>
              </a:rPr>
              <a:t>dx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D6707C-340A-496C-B23C-CB8E03F2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</a:defRPr>
            </a:pPr>
            <a:r>
              <a:rPr sz="1725" b="1">
                <a:solidFill>
                  <a:srgbClr val="1F2933"/>
                </a:solidFill>
              </a:rPr>
              <a:t>0.20 μm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14A699-08A8-4DFB-BC74-0B857B6C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387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7F7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676292-E46F-4DF0-A5D1-64C97BC9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101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47E"/>
                </a:solidFill>
              </a:defRPr>
            </a:pPr>
            <a:r>
              <a:rPr sz="1050" b="1">
                <a:solidFill>
                  <a:srgbClr val="66747E"/>
                </a:solidFill>
              </a:rPr>
              <a:t>dt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36BED2-F1CC-400C-98AF-40E19A01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3054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</a:defRPr>
            </a:pPr>
            <a:r>
              <a:rPr sz="1725" b="1">
                <a:solidFill>
                  <a:srgbClr val="1F2933"/>
                </a:solidFill>
              </a:rPr>
              <a:t>2.039 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EFE67C-A01E-46A4-9B8D-D5337E95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387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7F7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7FEFE2-4177-47EF-A02E-F9551338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101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47E"/>
                </a:solidFill>
              </a:defRPr>
            </a:pPr>
            <a:r>
              <a:rPr sz="1050" b="1">
                <a:solidFill>
                  <a:srgbClr val="66747E"/>
                </a:solidFill>
              </a:rPr>
              <a:t>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464A34-FE57-4633-8E5D-C506F8AA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054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</a:defRPr>
            </a:pPr>
            <a:r>
              <a:rPr sz="1725" b="1">
                <a:solidFill>
                  <a:srgbClr val="1F2933"/>
                </a:solidFill>
              </a:rPr>
              <a:t>1.0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3ED617-2F85-49D0-8725-188111E6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38700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7F7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F27FAC-0ACE-435B-90E6-199E5B98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101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47E"/>
                </a:solidFill>
              </a:defRPr>
            </a:pPr>
            <a:r>
              <a:rPr sz="1050" b="1">
                <a:solidFill>
                  <a:srgbClr val="66747E"/>
                </a:solidFill>
              </a:rPr>
              <a:t>Target Q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01327E-3483-4DB9-A283-BE187602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054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</a:defRPr>
            </a:pPr>
            <a:r>
              <a:rPr sz="1725" b="1">
                <a:solidFill>
                  <a:srgbClr val="1F2933"/>
                </a:solidFill>
              </a:rPr>
              <a:t>0.164 nL/min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C24521-7DD6-4D9F-9228-2779DC8B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721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E"/>
                </a:solidFill>
              </a:defRPr>
            </a:pPr>
            <a:r>
              <a:rPr sz="1050" b="0">
                <a:solidFill>
                  <a:srgbClr val="66747E"/>
                </a:solidFill>
              </a:rPr>
              <a:t>Diffusive scaling: dt = dx² / (6ν)</a:t>
            </a:r>
          </a:p>
        </p:txBody>
      </p:sp>
    </p:spTree>
    <p:extLst>
      <p:ext uri="{BB962C8B-B14F-4D97-AF65-F5344CB8AC3E}">
        <p14:creationId xmlns:p14="http://schemas.microsoft.com/office/powerpoint/2010/main" val="8376365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B6AC5E-5356-4751-88D1-9F9DBCB8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Steady CFD resolves velocity across vascular branches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4C753-BDB9-48D7-BC09-B0120EEF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95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A7F76"/>
                </a:solidFill>
              </a:defRPr>
            </a:pPr>
            <a:r>
              <a:rPr sz="900" b="1">
                <a:solidFill>
                  <a:srgbClr val="2A7F76"/>
                </a:solidFill>
              </a:rPr>
              <a:t>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B0210-DF62-44BE-9715-39517D52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13DAD-138E-4DAA-A66A-8632F2FD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A7889-F428-4FEE-8A4D-92D600A0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47E"/>
                </a:solidFill>
              </a:defRPr>
            </a:pPr>
            <a:r>
              <a:rPr sz="825" b="0">
                <a:solidFill>
                  <a:srgbClr val="66747E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6551E-B104-42C2-9126-A130474D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8229600" cy="4762500"/>
          </a:xfrm>
          <a:prstGeom xmlns:a="http://schemas.openxmlformats.org/drawingml/2006/main" prst="roundRect">
            <a:avLst>
              <a:gd name="adj" fmla="val 600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01ccf68354abe"/>
          <a:stretch xmlns:a="http://schemas.openxmlformats.org/drawingml/2006/main"/>
        </p:blipFill>
        <p:spPr>
          <a:xfrm xmlns:a="http://schemas.openxmlformats.org/drawingml/2006/main">
            <a:off x="1453806" y="1343025"/>
            <a:ext cx="6426888" cy="461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D7D67-CFA7-4E0E-BC80-79CDC92B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3A5F"/>
                </a:solidFill>
              </a:defRPr>
            </a:pPr>
            <a:r>
              <a:rPr sz="900" b="1">
                <a:solidFill>
                  <a:srgbClr val="163A5F"/>
                </a:solidFill>
              </a:rPr>
              <a:t>PHYSICAL VELOCITY · mm s⁻¹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EF4B0-C095-4DEB-9347-60DC234C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57325"/>
            <a:ext cx="2571750" cy="11239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EE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C8FBA-4365-4D28-9289-7A32A088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66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A5F"/>
                </a:solidFill>
              </a:defRPr>
            </a:pPr>
            <a:r>
              <a:rPr sz="1875" b="1">
                <a:solidFill>
                  <a:srgbClr val="163A5F"/>
                </a:solidFill>
              </a:rPr>
              <a:t>0.177 mm s⁻¹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4DD65-4BC6-4410-9261-18663193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764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E"/>
                </a:solidFill>
              </a:defRPr>
            </a:pPr>
            <a:r>
              <a:rPr sz="1050" b="0">
                <a:solidFill>
                  <a:srgbClr val="66747E"/>
                </a:solidFill>
              </a:rPr>
              <a:t>mean speed across the accepted Base field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EAFE6-B79D-49D6-80AF-4F0F3A30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71775"/>
            <a:ext cx="2571750" cy="11239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E8726-F8CB-4275-9C47-96D88947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813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7F76"/>
                </a:solidFill>
              </a:defRPr>
            </a:pPr>
            <a:r>
              <a:rPr sz="1875" b="1">
                <a:solidFill>
                  <a:srgbClr val="2A7F76"/>
                </a:solidFill>
              </a:rPr>
              <a:t>598,755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526A3-2D30-4AD3-86E7-ECF5D04F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909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47E"/>
                </a:solidFill>
              </a:defRPr>
            </a:pPr>
            <a:r>
              <a:rPr sz="1050" b="0">
                <a:solidFill>
                  <a:srgbClr val="66747E"/>
                </a:solidFill>
              </a:rPr>
              <a:t>accepted steady-state iteration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0228A-71FA-4984-A714-8CD0EC50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3387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7F736-7D85-4F60-BF2A-D515FE10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14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575E6-CC25-423B-B17D-8CA87DFF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958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47E"/>
                </a:solidFill>
              </a:defRPr>
            </a:pPr>
            <a:r>
              <a:rPr sz="1275" b="0">
                <a:solidFill>
                  <a:srgbClr val="66747E"/>
                </a:solidFill>
              </a:rPr>
              <a:t>Higher-speed colors are localized around the inlet and selected branch segments.</a:t>
            </a:r>
          </a:p>
        </p:txBody>
      </p:sp>
    </p:spTree>
    <p:extLst>
      <p:ext uri="{BB962C8B-B14F-4D97-AF65-F5344CB8AC3E}">
        <p14:creationId xmlns:p14="http://schemas.microsoft.com/office/powerpoint/2010/main" val="14420859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C4606-2A13-4B03-B368-1152C9A0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Flow and gauge pressure remain consistent across three outlets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DCA8F-E4C2-4650-A3F7-0FC78268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95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A7F76"/>
                </a:solidFill>
              </a:defRPr>
            </a:pPr>
            <a:r>
              <a:rPr sz="900" b="1">
                <a:solidFill>
                  <a:srgbClr val="2A7F76"/>
                </a:solidFill>
              </a:rPr>
              <a:t>QUANTITATIVE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91791-4262-4602-9434-026FA789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4673F-3FFE-4402-877F-3A1C4F23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EA322-F7B6-479B-8E2B-797DC7E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47E"/>
                </a:solidFill>
              </a:defRPr>
            </a:pPr>
            <a:r>
              <a:rPr sz="825" b="0">
                <a:solidFill>
                  <a:srgbClr val="66747E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FF7A9-345B-49F4-A0F8-B656F9B3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6334125" cy="4572000"/>
          </a:xfrm>
          <a:prstGeom xmlns:a="http://schemas.openxmlformats.org/drawingml/2006/main" prst="roundRect">
            <a:avLst>
              <a:gd name="adj" fmla="val 625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c3d4c778f4dd8"/>
          <a:stretch xmlns:a="http://schemas.openxmlformats.org/drawingml/2006/main"/>
        </p:blipFill>
        <p:spPr>
          <a:xfrm xmlns:a="http://schemas.openxmlformats.org/drawingml/2006/main">
            <a:off x="638855" y="1371600"/>
            <a:ext cx="6161314" cy="4419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C8C88-040A-44A9-B6D8-5A3A7916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3A5F"/>
                </a:solidFill>
              </a:defRPr>
            </a:pPr>
            <a:r>
              <a:rPr sz="900" b="1">
                <a:solidFill>
                  <a:srgbClr val="163A5F"/>
                </a:solidFill>
              </a:rPr>
              <a:t>GAUGE PRESSURE · Pa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4277C-79C3-4B9B-900E-198BCF23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335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</a:defRPr>
            </a:pPr>
            <a:r>
              <a:rPr sz="1650" b="1">
                <a:solidFill>
                  <a:srgbClr val="1F2933"/>
                </a:solidFill>
              </a:rPr>
              <a:t>Outlet flow split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7143750" y="1714500"/>
          <a:ext xmlns:a="http://schemas.openxmlformats.org/drawingml/2006/main" cx="42862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d72ce629c448b1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DECC3-D5C8-4FD0-A7CF-3E02C616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D24EF-509D-4D04-95F0-848FA139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A5F"/>
                </a:solidFill>
              </a:defRPr>
            </a:pPr>
            <a:r>
              <a:rPr sz="1800" b="1">
                <a:solidFill>
                  <a:srgbClr val="163A5F"/>
                </a:solidFill>
              </a:rPr>
              <a:t>0.164 → 0.163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FB414-705F-4EAC-92E3-A31A5F37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577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7E"/>
                </a:solidFill>
              </a:defRPr>
            </a:pPr>
            <a:r>
              <a:rPr sz="975" b="0">
                <a:solidFill>
                  <a:srgbClr val="66747E"/>
                </a:solidFill>
              </a:rPr>
              <a:t>inlet → outlet (nL/min)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943A2-2955-4010-8557-66AAD6BD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86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7F76"/>
                </a:solidFill>
              </a:defRPr>
            </a:pPr>
            <a:r>
              <a:rPr sz="1800" b="1">
                <a:solidFill>
                  <a:srgbClr val="2A7F76"/>
                </a:solidFill>
              </a:rPr>
              <a:t>0.154%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0CAC2-1992-440B-BB1C-9E38E8B6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57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7E"/>
                </a:solidFill>
              </a:defRPr>
            </a:pPr>
            <a:r>
              <a:rPr sz="975" b="0">
                <a:solidFill>
                  <a:srgbClr val="66747E"/>
                </a:solidFill>
              </a:rPr>
              <a:t>physical flow closure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324AA-5B06-4BA0-B5AE-3532424C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531 Pa inlet gauge pressure</a:t>
            </a:r>
          </a:p>
        </p:txBody>
      </p:sp>
    </p:spTree>
    <p:extLst>
      <p:ext uri="{BB962C8B-B14F-4D97-AF65-F5344CB8AC3E}">
        <p14:creationId xmlns:p14="http://schemas.microsoft.com/office/powerpoint/2010/main" val="17014597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DFFF5F-FB75-445A-B295-C4C78E07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</a:defRPr>
            </a:pPr>
            <a:r>
              <a:rPr sz="2400" b="1">
                <a:solidFill>
                  <a:srgbClr val="1F2933"/>
                </a:solidFill>
              </a:rPr>
              <a:t>The validated Base solution is production-ready within the current study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A4542-02C1-4324-8A66-715E4836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95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A7F76"/>
                </a:solidFill>
              </a:defRPr>
            </a:pPr>
            <a:r>
              <a:rPr sz="900" b="1">
                <a:solidFill>
                  <a:srgbClr val="2A7F76"/>
                </a:solidFill>
              </a:rPr>
              <a:t>VALIDATION &amp;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487E7-86F3-4553-8009-4E3A1CDD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FCC23-C0CE-40E9-B6C7-E581E24A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C5769-235B-48F2-9CBB-203778EF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86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47E"/>
                </a:solidFill>
              </a:defRPr>
            </a:pPr>
            <a:r>
              <a:rPr sz="825" b="0">
                <a:solidFill>
                  <a:srgbClr val="66747E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D566E-6C0C-4042-9FCF-82D825EC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62075"/>
            <a:ext cx="5295900" cy="3886200"/>
          </a:xfrm>
          <a:prstGeom xmlns:a="http://schemas.openxmlformats.org/drawingml/2006/main" prst="roundRect">
            <a:avLst>
              <a:gd name="adj" fmla="val 980"/>
            </a:avLst>
          </a:prstGeom>
          <a:solidFill xmlns:a="http://schemas.openxmlformats.org/drawingml/2006/main">
            <a:srgbClr val="EE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94FD8-3BD5-4F6C-A9EC-F80A2064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7F76"/>
                </a:solidFill>
              </a:defRPr>
            </a:pPr>
            <a:r>
              <a:rPr sz="1125" b="1">
                <a:solidFill>
                  <a:srgbClr val="2A7F76"/>
                </a:solidFill>
              </a:rPr>
              <a:t>VALIDATED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E0C92-6744-4249-9768-2825F50F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DC0AB-06B8-40D3-9273-D3E32565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Steady Base solution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7A8FD-7A00-4D94-A55F-AD9C82C1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57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47E"/>
                </a:solidFill>
              </a:defRPr>
            </a:pPr>
            <a:r>
              <a:rPr sz="1050" b="0">
                <a:solidFill>
                  <a:srgbClr val="66747E"/>
                </a:solidFill>
              </a:rPr>
              <a:t>Accepted at 598,755 iterations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67BB4-478D-4B91-B37A-C879C653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C3CAD-215B-4C7E-95CA-534F84BB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384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Physical flow closure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11AF7-8216-422C-ABA6-6EC3C319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38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47E"/>
                </a:solidFill>
              </a:defRPr>
            </a:pPr>
            <a:r>
              <a:rPr sz="1050" b="0">
                <a:solidFill>
                  <a:srgbClr val="66747E"/>
                </a:solidFill>
              </a:rPr>
              <a:t>0.154%  (&lt; 1%)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98A37-42FB-428B-BCCB-B3D41C12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17958-1921-42BB-BDD0-78B7CBAA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Full-timestep mass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2062DC-BDF7-479D-B2CB-D95BECB7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19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47E"/>
                </a:solidFill>
              </a:defRPr>
            </a:pPr>
            <a:r>
              <a:rPr sz="1050" b="0">
                <a:solidFill>
                  <a:srgbClr val="66747E"/>
                </a:solidFill>
              </a:rPr>
              <a:t>7.91e-10  (&lt; 1 × 10⁻⁸)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D1432D-8EDB-41FF-A9A9-F553EB5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F48511-5788-4AE2-A1F6-77603B91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004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Numerical safety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1D6CD-0C58-4127-87E7-942FA90E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004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47E"/>
                </a:solidFill>
              </a:defRPr>
            </a:pPr>
            <a:r>
              <a:rPr sz="1050" b="0">
                <a:solidFill>
                  <a:srgbClr val="66747E"/>
                </a:solidFill>
              </a:rPr>
              <a:t>Positive populations; low lattice speed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229F2-1E54-4DEC-BEA9-76E6893E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EA9B5-7D02-4AFE-B64F-92021AFA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</a:defRPr>
            </a:pPr>
            <a:r>
              <a:rPr sz="1200" b="1">
                <a:solidFill>
                  <a:srgbClr val="1F2933"/>
                </a:solidFill>
              </a:rPr>
              <a:t>Resolution sensitivity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A28B13-BC8A-460F-8A0D-885BFA56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81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47E"/>
                </a:solidFill>
              </a:defRPr>
            </a:pPr>
            <a:r>
              <a:rPr sz="1050" b="0">
                <a:solidFill>
                  <a:srgbClr val="66747E"/>
                </a:solidFill>
              </a:rPr>
              <a:t>Coarse → Base max difference 1.45%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540335-D110-4A54-9BDD-59AA011F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62075"/>
            <a:ext cx="5486400" cy="3886200"/>
          </a:xfrm>
          <a:prstGeom xmlns:a="http://schemas.openxmlformats.org/drawingml/2006/main" prst="roundRect">
            <a:avLst>
              <a:gd name="adj" fmla="val 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48721D-0736-43B0-BF8F-9F72F89E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19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A5F"/>
                </a:solidFill>
              </a:defRPr>
            </a:pPr>
            <a:r>
              <a:rPr sz="1125" b="1">
                <a:solidFill>
                  <a:srgbClr val="163A5F"/>
                </a:solidFill>
              </a:rPr>
              <a:t>CURRENT SCOPE LIMITS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696D39-B275-4C7E-A36D-4A59847A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1713EA-A5A0-4A44-A929-0597131F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812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Three-grid convergence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7CE782-B0E5-49C4-B9C5-DCAE78F9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81225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47E"/>
                </a:solidFill>
              </a:defRPr>
            </a:pPr>
            <a:r>
              <a:rPr sz="1125" b="0">
                <a:solidFill>
                  <a:srgbClr val="66747E"/>
                </a:solidFill>
              </a:rPr>
              <a:t>Richardson/GCI not completed under the compute budget.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326A46-8D65-45BC-84AD-6F7A8F9C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BD84D9-BBD3-4FF8-B48B-D3BE9B5A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76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Fine grid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D37644-3759-4F71-B08A-D003F237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76575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47E"/>
                </a:solidFill>
              </a:defRPr>
            </a:pPr>
            <a:r>
              <a:rPr sz="1125" b="0">
                <a:solidFill>
                  <a:srgbClr val="66747E"/>
                </a:solidFill>
              </a:rPr>
              <a:t>Mesh, controller and 5,000-step safety passed; steady state not completed.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C6F735-ED2C-4787-BD84-6D5D545B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481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7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6AAE55-B598-4C2C-BE21-5ECBB434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71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Wall shear stress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E14441-5306-4DAA-B336-141803B0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71925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47E"/>
                </a:solidFill>
              </a:defRPr>
            </a:pPr>
            <a:r>
              <a:rPr sz="1125" b="0">
                <a:solidFill>
                  <a:srgbClr val="66747E"/>
                </a:solidFill>
              </a:rPr>
              <a:t>Validation is deferred to a later production phase.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F6D7D8-F1AD-4946-B743-E4F6B36D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53075"/>
            <a:ext cx="1108710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60C101-A915-4F15-A9E4-BEF7F0CB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The validated Base field is the production flow solution used for downstream analysis.</a:t>
            </a:r>
          </a:p>
        </p:txBody>
      </p:sp>
    </p:spTree>
    <p:extLst>
      <p:ext uri="{BB962C8B-B14F-4D97-AF65-F5344CB8AC3E}">
        <p14:creationId xmlns:p14="http://schemas.microsoft.com/office/powerpoint/2010/main" val="429661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2026-09-03T07:28:40.8350000Z</dcterms:created>
  <dcterms:modified xsi:type="dcterms:W3CDTF">2026-09-03T07:28:40.8350000Z</dcterms:modified>
</coreProperties>
</file>