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13c19e917e14da0" /><Relationship Type="http://schemas.openxmlformats.org/officeDocument/2006/relationships/extended-properties" Target="/docProps/app.xml" Id="R64402fdbd5724f05" /><Relationship Type="http://schemas.openxmlformats.org/officeDocument/2006/relationships/officeDocument" Target="/ppt/presentation.xml" Id="R071929b253034de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ab8f14c63b4488f"/>
  </p:sldMasterIdLst>
  <p:notesMasterIdLst>
    <p:notesMasterId xmlns:r="http://schemas.openxmlformats.org/officeDocument/2006/relationships" r:id="R2828f5a6f8d4417c"/>
  </p:notesMasterIdLst>
  <p:sldIdLst>
    <p:sldId xmlns:r="http://schemas.openxmlformats.org/officeDocument/2006/relationships" id="256" r:id="Rb136236c3acb4bf3"/>
    <p:sldId xmlns:r="http://schemas.openxmlformats.org/officeDocument/2006/relationships" id="257" r:id="R550075d9898d40ae"/>
    <p:sldId xmlns:r="http://schemas.openxmlformats.org/officeDocument/2006/relationships" id="258" r:id="Rc42772b8e98f4eed"/>
    <p:sldId xmlns:r="http://schemas.openxmlformats.org/officeDocument/2006/relationships" id="259" r:id="R0c66861576ba480f"/>
    <p:sldId xmlns:r="http://schemas.openxmlformats.org/officeDocument/2006/relationships" id="260" r:id="Ra8bd56505316424b"/>
    <p:sldId xmlns:r="http://schemas.openxmlformats.org/officeDocument/2006/relationships" id="261" r:id="R7b941b13372a4d46"/>
    <p:sldId xmlns:r="http://schemas.openxmlformats.org/officeDocument/2006/relationships" id="262" r:id="Rbd0d565dd93a4c9e"/>
    <p:sldId xmlns:r="http://schemas.openxmlformats.org/officeDocument/2006/relationships" id="263" r:id="Rb955ea014dea473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28dffff549d469e" /><Relationship Type="http://schemas.openxmlformats.org/officeDocument/2006/relationships/slideMaster" Target="/ppt/slideMasters/slideMaster1.xml" Id="Rbab8f14c63b4488f" /><Relationship Type="http://schemas.openxmlformats.org/officeDocument/2006/relationships/notesMaster" Target="/ppt/notesMasters/notesMaster1.xml" Id="R2828f5a6f8d4417c" /><Relationship Type="http://schemas.openxmlformats.org/officeDocument/2006/relationships/presProps" Target="/ppt/presProps.xml" Id="R1c412deef9324ef8" /><Relationship Type="http://schemas.openxmlformats.org/officeDocument/2006/relationships/tableStyles" Target="/ppt/tableStyles.xml" Id="R096de61ffab44045" /><Relationship Type="http://schemas.openxmlformats.org/officeDocument/2006/relationships/slide" Target="/ppt/slides/slide1.xml" Id="Rb136236c3acb4bf3" /><Relationship Type="http://schemas.openxmlformats.org/officeDocument/2006/relationships/slide" Target="/ppt/slides/slide2.xml" Id="R550075d9898d40ae" /><Relationship Type="http://schemas.openxmlformats.org/officeDocument/2006/relationships/slide" Target="/ppt/slides/slide3.xml" Id="Rc42772b8e98f4eed" /><Relationship Type="http://schemas.openxmlformats.org/officeDocument/2006/relationships/slide" Target="/ppt/slides/slide4.xml" Id="R0c66861576ba480f" /><Relationship Type="http://schemas.openxmlformats.org/officeDocument/2006/relationships/slide" Target="/ppt/slides/slide5.xml" Id="Ra8bd56505316424b" /><Relationship Type="http://schemas.openxmlformats.org/officeDocument/2006/relationships/slide" Target="/ppt/slides/slide6.xml" Id="R7b941b13372a4d46" /><Relationship Type="http://schemas.openxmlformats.org/officeDocument/2006/relationships/slide" Target="/ppt/slides/slide7.xml" Id="Rbd0d565dd93a4c9e" /><Relationship Type="http://schemas.openxmlformats.org/officeDocument/2006/relationships/slide" Target="/ppt/slides/slide8.xml" Id="Rb955ea014dea473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be862b4a2e246d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5d65dc6afcb4739" /><Relationship Type="http://schemas.openxmlformats.org/officeDocument/2006/relationships/notesMaster" Target="/ppt/notesMasters/notesMaster1.xml" Id="R86e821645296416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d5e09c514bb45a9" /><Relationship Type="http://schemas.openxmlformats.org/officeDocument/2006/relationships/notesMaster" Target="/ppt/notesMasters/notesMaster1.xml" Id="R638761e94e454ab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aa8fc2fbd2c45ca" /><Relationship Type="http://schemas.openxmlformats.org/officeDocument/2006/relationships/notesMaster" Target="/ppt/notesMasters/notesMaster1.xml" Id="Rbfb35cb9655d426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6b7fd2ed94142bc" /><Relationship Type="http://schemas.openxmlformats.org/officeDocument/2006/relationships/notesMaster" Target="/ppt/notesMasters/notesMaster1.xml" Id="R804de79edac943c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58b8f01f44f4c27" /><Relationship Type="http://schemas.openxmlformats.org/officeDocument/2006/relationships/notesMaster" Target="/ppt/notesMasters/notesMaster1.xml" Id="R84d95098784c4c2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f21cc364dd247fe" /><Relationship Type="http://schemas.openxmlformats.org/officeDocument/2006/relationships/notesMaster" Target="/ppt/notesMasters/notesMaster1.xml" Id="R54621db3bc02404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0ebdb42ded04ba1" /><Relationship Type="http://schemas.openxmlformats.org/officeDocument/2006/relationships/notesMaster" Target="/ppt/notesMasters/notesMaster1.xml" Id="Rc0cf23cfe52a464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41023e133d844ae" /><Relationship Type="http://schemas.openxmlformats.org/officeDocument/2006/relationships/notesMaster" Target="/ppt/notesMasters/notesMaster1.xml" Id="R7185d864d77c4da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https://github.com/OZAKI39/ulm-3d-vascular-model-generation/blob/codex/cfd-wall-force-numerics-validated-sync-20260830/outputs/cfd_flow/production_tau1_base_promotion_anchor003274_20260902_013637/flow/production_steady_flow_field_manifest.json</a:t>
            </a:r>
          </a:p>
          <a:p xmlns:a="http://schemas.openxmlformats.org/drawingml/2006/main">
            <a:r>
              <a:t>- https://github.com/OZAKI39/ulm-3d-vascular-model-generation/blob/codex/cfd-wall-force-numerics-validated-sync-20260830/outputs/cfd_flow/production_tau1_base_promotion_anchor003274_20260902_013637/visualization/interactive_v3_redesign/01_after_velocity_overview.json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https://github.com/OZAKI39/ulm-3d-vascular-model-generation/blob/codex/cfd-wall-force-numerics-validated-sync-20260830/outputs/cfd_preprocess/global_to_roi_anchor003274_20260825_183628/qc/run_summary.json</a:t>
            </a:r>
          </a:p>
          <a:p xmlns:a="http://schemas.openxmlformats.org/drawingml/2006/main">
            <a:r>
              <a:t>- https://github.com/OZAKI39/ulm-3d-vascular-model-generation/blob/codex/cfd-wall-force-numerics-validated-sync-20260830/outputs/cfd_surface_prepare/vmtk_tps_boundarynormal_crossseam_finalized_recovery_anchor003274_20260826_221611/qc/final_surface_qc.json</a:t>
            </a:r>
          </a:p>
          <a:p xmlns:a="http://schemas.openxmlformats.org/drawingml/2006/main">
            <a:r>
              <a:t>- https://github.com/OZAKI39/ulm-3d-vascular-model-generation/blob/codex/cfd-wall-force-numerics-validated-sync-20260830/outputs/cfd_flow/production_tau1_base_promotion_anchor003274_20260902_013637/qc/run_summary.json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https://github.com/OZAKI39/ulm-3d-vascular-model-generation/blob/codex/cfd-wall-force-numerics-validated-sync-20260830/outputs/cfd_preprocess/global_to_roi_anchor003274_20260825_183628/qc/run_summary.json</a:t>
            </a:r>
          </a:p>
          <a:p xmlns:a="http://schemas.openxmlformats.org/drawingml/2006/main">
            <a:r>
              <a:t>- https://github.com/OZAKI39/ulm-3d-vascular-model-generation/blob/codex/cfd-wall-force-numerics-validated-sync-20260830/outputs/cfd_preprocess/global_to_roi_anchor003274_20260825_183628/qc/port_transfer_qc.json</a:t>
            </a:r>
          </a:p>
          <a:p xmlns:a="http://schemas.openxmlformats.org/drawingml/2006/main">
            <a:r>
              <a:t>- https://github.com/OZAKI39/ulm-3d-vascular-model-generation/blob/codex/cfd-wall-force-numerics-validated-sync-20260830/outputs/cfd_surface_prepare/vmtk_tps_boundarynormal_crossseam_finalized_recovery_anchor003274_20260826_221611/bc/boundary_conditions_vmtk_boundarynormal_crossseam.json</a:t>
            </a:r>
          </a:p>
          <a:p xmlns:a="http://schemas.openxmlformats.org/drawingml/2006/main">
            <a:r>
              <a:t>- https://github.com/OZAKI39/ulm-3d-vascular-model-generation/blob/codex/cfd-wall-force-numerics-validated-sync-20260830/utils/cfd_preprocess/one_d_flow.py</a:t>
            </a:r>
          </a:p>
          <a:p xmlns:a="http://schemas.openxmlformats.org/drawingml/2006/main">
            <a:r>
              <a:t>- https://github.com/OZAKI39/ulm-3d-vascular-model-generation/blob/codex/cfd-wall-force-numerics-validated-sync-20260830/utils/cfd_preprocess/port_transfer.py</a:t>
            </a:r>
          </a:p>
          <a:p xmlns:a="http://schemas.openxmlformats.org/drawingml/2006/main">
            <a:r>
              <a:t>- https://github.com/OZAKI39/ulm-3d-vascular-model-generation/blob/codex/cfd-wall-force-numerics-validated-sync-20260830/utils/cfd_surface_prepare/vmtk_qc.py</a:t>
            </a:r>
          </a:p>
          <a:p xmlns:a="http://schemas.openxmlformats.org/drawingml/2006/main">
            <a:r>
              <a:t>- https://github.com/OZAKI39/ulm-3d-vascular-model-generation/blob/codex/cfd-wall-force-numerics-validated-sync-20260830/outputs/cfd_flow/healthy_mouse_capillary_calibration_anchor003274_20260829_180310/qc/healthy_flow_target_calculation.json</a:t>
            </a:r>
          </a:p>
          <a:p xmlns:a="http://schemas.openxmlformats.org/drawingml/2006/main">
            <a:r>
              <a:t>- https://github.com/OZAKI39/ulm-3d-vascular-model-generation/blob/codex/cfd-wall-force-numerics-validated-sync-20260830/outputs/cfd_flow/production_tau1_base_promotion_anchor003274_20260902_013637/input/production_numerical_contract.json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https://github.com/OZAKI39/ulm-3d-vascular-model-generation/blob/codex/cfd-wall-force-numerics-validated-sync-20260830/outputs/model_generate/ultraliser_anchor003274_20260825_133350/geometry/lumen_surface_um.vtp</a:t>
            </a:r>
          </a:p>
          <a:p xmlns:a="http://schemas.openxmlformats.org/drawingml/2006/main">
            <a:r>
              <a:t>- https://github.com/OZAKI39/ulm-3d-vascular-model-generation/blob/codex/cfd-wall-force-numerics-validated-sync-20260830/outputs/cfd_surface_prepare/vmtk_tps_boundarynormal_crossseam_finalized_recovery_anchor003274_20260826_221611/geometry/cfd_surface_vmtk_tps_boundarynormal_crossseam_um.vtp</a:t>
            </a:r>
          </a:p>
          <a:p xmlns:a="http://schemas.openxmlformats.org/drawingml/2006/main">
            <a:r>
              <a:t>- https://github.com/OZAKI39/ulm-3d-vascular-model-generation/blob/codex/cfd-wall-force-numerics-validated-sync-20260830/outputs/cfd_surface_prepare/vmtk_tps_boundarynormal_crossseam_finalized_recovery_anchor003274_20260826_221611/qc/final_surface_qc.json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https://github.com/OZAKI39/ulm-3d-vascular-model-generation/blob/codex/cfd-wall-force-numerics-validated-sync-20260830/outputs/cfd_flow/production_tau1_base_promotion_anchor003274_20260902_013637/input/production_numerical_contract.json</a:t>
            </a:r>
          </a:p>
          <a:p xmlns:a="http://schemas.openxmlformats.org/drawingml/2006/main">
            <a:r>
              <a:t>- https://github.com/OZAKI39/ulm-3d-vascular-model-generation/blob/codex/cfd-wall-force-numerics-validated-sync-20260830/outputs/cfd_flow/production_tau1_base_promotion_anchor003274_20260902_013637/flow/production_steady_flow_field_manifest.json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https://github.com/OZAKI39/ulm-3d-vascular-model-generation/blob/codex/cfd-wall-force-numerics-validated-sync-20260830/outputs/cfd_flow/production_tau1_base_promotion_anchor003274_20260902_013637/qc/production_primary_metrics.json</a:t>
            </a:r>
          </a:p>
          <a:p xmlns:a="http://schemas.openxmlformats.org/drawingml/2006/main">
            <a:r>
              <a:t>- https://github.com/OZAKI39/ulm-3d-vascular-model-generation/blob/codex/cfd-wall-force-numerics-validated-sync-20260830/outputs/cfd_flow/production_tau1_base_promotion_anchor003274_20260902_013637/visualization/interactive_v3_redesign/01_after_velocity_overview.json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https://github.com/OZAKI39/ulm-3d-vascular-model-generation/blob/codex/cfd-wall-force-numerics-validated-sync-20260830/outputs/cfd_flow/production_tau1_base_promotion_anchor003274_20260902_013637/qc/production_primary_metrics.json</a:t>
            </a:r>
          </a:p>
          <a:p xmlns:a="http://schemas.openxmlformats.org/drawingml/2006/main">
            <a:r>
              <a:t>- https://github.com/OZAKI39/ulm-3d-vascular-model-generation/blob/codex/cfd-wall-force-numerics-validated-sync-20260830/outputs/cfd_flow/production_tau1_base_promotion_anchor003274_20260902_013637/visualization/interactive_v3_redesign/02_after_pressure_overview.json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https://github.com/OZAKI39/ulm-3d-vascular-model-generation/blob/codex/cfd-wall-force-numerics-validated-sync-20260830/outputs/cfd_flow/production_tau1_base_promotion_anchor003274_20260902_013637/qc/production_steady_qc.json</a:t>
            </a:r>
          </a:p>
          <a:p xmlns:a="http://schemas.openxmlformats.org/drawingml/2006/main">
            <a:r>
              <a:t>- https://github.com/OZAKI39/ulm-3d-vascular-model-generation/blob/codex/cfd-wall-force-numerics-validated-sync-20260830/outputs/cfd_flow/production_tau1_base_promotion_anchor003274_20260902_013637/qc/production_full_timestep_v2.json</a:t>
            </a:r>
          </a:p>
          <a:p xmlns:a="http://schemas.openxmlformats.org/drawingml/2006/main">
            <a:r>
              <a:t>- https://github.com/OZAKI39/ulm-3d-vascular-model-generation/blob/codex/cfd-wall-force-numerics-validated-sync-20260830/outputs/cfd_flow/production_tau1_base_promotion_anchor003274_20260902_013637/qc/two_grid_resolution_sensitivity.json</a:t>
            </a:r>
          </a:p>
          <a:p xmlns:a="http://schemas.openxmlformats.org/drawingml/2006/main">
            <a:r>
              <a:t>- https://github.com/OZAKI39/ulm-3d-vascular-model-generation/blob/codex/cfd-wall-force-numerics-validated-sync-20260830/outputs/cfd_flow/production_tau1_base_promotion_anchor003274_20260902_013637/qc/run_summary.json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ffaf5ac5354ff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b75319a4ee44ba3" /><Relationship Type="http://schemas.openxmlformats.org/officeDocument/2006/relationships/slideLayout" Target="/ppt/slideLayouts/slideLayout1.xml" Id="R87092b578ad3472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7092b578ad3472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43db3dfcea44ee" /><Relationship Type="http://schemas.openxmlformats.org/officeDocument/2006/relationships/image" Target="/ppt/media/image.png" Id="R4acad348f74f4afb" /><Relationship Type="http://schemas.openxmlformats.org/officeDocument/2006/relationships/notesSlide" Target="/ppt/notesSlides/notesSlide1.xml" Id="R07783f0c17f44f0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c8adb0209f4def" /><Relationship Type="http://schemas.openxmlformats.org/officeDocument/2006/relationships/image" Target="/ppt/media/image2.png" Id="Rc91bd1670a1c4c30" /><Relationship Type="http://schemas.openxmlformats.org/officeDocument/2006/relationships/image" Target="/ppt/media/image3.png" Id="R33614ffcab3e40d5" /><Relationship Type="http://schemas.openxmlformats.org/officeDocument/2006/relationships/image" Target="/ppt/media/image4.png" Id="R88711e0bc3a1485d" /><Relationship Type="http://schemas.openxmlformats.org/officeDocument/2006/relationships/notesSlide" Target="/ppt/notesSlides/notesSlide2.xml" Id="Rca8c0ea460eb465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d85bb310aa4f99" /><Relationship Type="http://schemas.openxmlformats.org/officeDocument/2006/relationships/image" Target="/ppt/media/image5.png" Id="Rac5e8b30be604551" /><Relationship Type="http://schemas.openxmlformats.org/officeDocument/2006/relationships/image" Target="/ppt/media/image6.png" Id="R24846038d4e04358" /><Relationship Type="http://schemas.openxmlformats.org/officeDocument/2006/relationships/notesSlide" Target="/ppt/notesSlides/notesSlide3.xml" Id="R43c7204ea392498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29bad2dddc457c" /><Relationship Type="http://schemas.openxmlformats.org/officeDocument/2006/relationships/image" Target="/ppt/media/image7.png" Id="Rcf5e65f9384b4c85" /><Relationship Type="http://schemas.openxmlformats.org/officeDocument/2006/relationships/notesSlide" Target="/ppt/notesSlides/notesSlide4.xml" Id="Ra9889e1b9cc644d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232981a9f645e4" /><Relationship Type="http://schemas.openxmlformats.org/officeDocument/2006/relationships/notesSlide" Target="/ppt/notesSlides/notesSlide5.xml" Id="R451776608bfb4a8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69f5d491184035" /><Relationship Type="http://schemas.openxmlformats.org/officeDocument/2006/relationships/image" Target="/ppt/media/image8.png" Id="R45f1fb53f45c4809" /><Relationship Type="http://schemas.openxmlformats.org/officeDocument/2006/relationships/notesSlide" Target="/ppt/notesSlides/notesSlide6.xml" Id="R98fb116a657c4a1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7f550842ea4f9e" /><Relationship Type="http://schemas.openxmlformats.org/officeDocument/2006/relationships/image" Target="/ppt/media/image9.png" Id="R6ed62f8d53fa4758" /><Relationship Type="http://schemas.openxmlformats.org/officeDocument/2006/relationships/chart" Target="/ppt/slides/charts/chart1.xml" Id="R7a5fb372bece4240" /><Relationship Type="http://schemas.openxmlformats.org/officeDocument/2006/relationships/notesSlide" Target="/ppt/notesSlides/notesSlide7.xml" Id="R650fd8f732e14ed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267829e81e4c8e" /><Relationship Type="http://schemas.openxmlformats.org/officeDocument/2006/relationships/notesSlide" Target="/ppt/notesSlides/notesSlide8.xml" Id="R110c7f7ba1794247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1"/>
        <c:ser>
          <c:idx val="0"/>
          <c:order val="0"/>
          <c:tx>
            <c:v>Share</c:v>
          </c:tx>
          <c:spPr>
            <a:solidFill xmlns:a="http://schemas.openxmlformats.org/drawingml/2006/main">
              <a:srgbClr val="0072B2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0072B2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009E73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CC79A7"/>
              </a:solidFill>
            </c:spPr>
          </c:dPt>
          <c:cat>
            <c:strLit>
              <c:ptCount val="3"/>
              <c:pt idx="0">
                <c:v>Outlet 1</c:v>
              </c:pt>
              <c:pt idx="1">
                <c:v>Outlet 2</c:v>
              </c:pt>
              <c:pt idx="2">
                <c:v>Outlet 3</c:v>
              </c:pt>
            </c:strLit>
          </c:cat>
          <c:val>
            <c:numLit>
              <c:formatCode>0.0</c:formatCode>
              <c:ptCount val="3"/>
              <c:pt idx="0">
                <c:v>5.20383163811772</c:v>
              </c:pt>
              <c:pt idx="1">
                <c:v>73.18288235826557</c:v>
              </c:pt>
              <c:pt idx="2">
                <c:v>21.61328600361672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 b="1">
                  <a:solidFill>
                    <a:srgbClr val="1F2933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4EAED"/>
              </a:solidFill>
              <a:prstDash val="solid"/>
            </a:ln>
          </c:spPr>
        </c:majorGridlines>
        <c:numFmt formatCode="0&quot;%&quot;"/>
        <c:majorTickMark val="none"/>
        <c:minorTickMark val="none"/>
        <c:spPr>
          <a:ln xmlns:a="http://schemas.openxmlformats.org/drawingml/2006/main" w="9525">
            <a:solidFill>
              <a:srgbClr val="CDD7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747E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0">
            <a:noFill/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47E"/>
                </a:solidFill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A99D0D-622A-451C-BD9F-BDAA0D7F7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A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1A5D7C-FABA-436C-923E-077F902C4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667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A7F76"/>
                </a:solidFill>
              </a:defRPr>
            </a:pPr>
            <a:r>
              <a:rPr sz="900" b="1">
                <a:solidFill>
                  <a:srgbClr val="2A7F76"/>
                </a:solidFill>
              </a:rPr>
              <a:t>COMPUTATIONAL METHODS · MOUSE MICROVASCULAR ROI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4EF444-D065-4892-9A45-FF30AEE60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00150"/>
            <a:ext cx="4762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F2933"/>
                </a:solidFill>
              </a:defRPr>
            </a:pPr>
            <a:r>
              <a:rPr sz="3600" b="1">
                <a:solidFill>
                  <a:srgbClr val="1F2933"/>
                </a:solidFill>
              </a:rPr>
              <a:t>From 1D Vascular Data to Validated 3D CFD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14BA75-76C5-40CC-AF55-A4E72489C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876550"/>
            <a:ext cx="4476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66747E"/>
                </a:solidFill>
              </a:defRPr>
            </a:pPr>
            <a:r>
              <a:rPr sz="1575" b="0">
                <a:solidFill>
                  <a:srgbClr val="66747E"/>
                </a:solidFill>
              </a:rPr>
              <a:t>A three-stage workflow for constructing, preparing and solving flow in a mouse microvascular ROI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07E74D-B294-4A4C-8D5E-6CA6CCADD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371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7D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C2C7DB-C8FB-4D8F-ACC0-C723F5CC8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95775"/>
            <a:ext cx="457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3A5F"/>
                </a:solidFill>
              </a:defRPr>
            </a:pPr>
            <a:r>
              <a:rPr sz="1275" b="1">
                <a:solidFill>
                  <a:srgbClr val="163A5F"/>
                </a:solidFill>
              </a:rPr>
              <a:t>1D boundary data   →   prepared lumen   →   steady 3D field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B5D630-20D6-4AF4-A577-FDA6AE21C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514350"/>
            <a:ext cx="6096000" cy="5753100"/>
          </a:xfrm>
          <a:prstGeom xmlns:a="http://schemas.openxmlformats.org/drawingml/2006/main" prst="roundRect">
            <a:avLst>
              <a:gd name="adj" fmla="val 331"/>
            </a:avLst>
          </a:prstGeom>
          <a:solidFill xmlns:a="http://schemas.openxmlformats.org/drawingml/2006/main">
            <a:srgbClr val="F6F8F9"/>
          </a:solidFill>
          <a:ln xmlns:a="http://schemas.openxmlformats.org/drawingml/2006/main" w="9525">
            <a:solidFill>
              <a:srgbClr val="CDD7DD"/>
            </a:solidFill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cad348f74f4afb"/>
          <a:stretch xmlns:a="http://schemas.openxmlformats.org/drawingml/2006/main"/>
        </p:blipFill>
        <p:spPr>
          <a:xfrm xmlns:a="http://schemas.openxmlformats.org/drawingml/2006/main">
            <a:off x="5676900" y="1300179"/>
            <a:ext cx="5829300" cy="4181441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F58D1A-8005-454E-ABBE-BF351EFE9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6096000"/>
            <a:ext cx="432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6747E"/>
                </a:solidFill>
              </a:defRPr>
            </a:pPr>
            <a:r>
              <a:rPr sz="825" b="0">
                <a:solidFill>
                  <a:srgbClr val="66747E"/>
                </a:solidFill>
              </a:rPr>
              <a:t>Accepted Base · physical velocity magnitude (mm s⁻¹)</a:t>
            </a:r>
          </a:p>
        </p:txBody>
      </p:sp>
    </p:spTree>
    <p:extLst>
      <p:ext uri="{BB962C8B-B14F-4D97-AF65-F5344CB8AC3E}">
        <p14:creationId xmlns:p14="http://schemas.microsoft.com/office/powerpoint/2010/main" val="209892086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13C2053-9666-45DB-B8AD-0496345C0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4325"/>
            <a:ext cx="1019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F2933"/>
                </a:solidFill>
              </a:defRPr>
            </a:pPr>
            <a:r>
              <a:rPr sz="2400" b="1">
                <a:solidFill>
                  <a:srgbClr val="1F2933"/>
                </a:solidFill>
              </a:rPr>
              <a:t>Three stages turn vascular data into a validated 3D flow field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3090C5-035B-41BC-B01A-968AE119B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409575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2A7F76"/>
                </a:solidFill>
              </a:defRPr>
            </a:pPr>
            <a:r>
              <a:rPr sz="900" b="1">
                <a:solidFill>
                  <a:srgbClr val="2A7F76"/>
                </a:solidFill>
              </a:rPr>
              <a:t>WORKFLOW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463E15-17EB-4738-92FC-C5C09653C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0965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7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8C3112-0767-4A7F-BAE2-F1960FD0A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096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F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F2ECB3-8020-443D-88BB-863BE2EBB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48652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6747E"/>
                </a:solidFill>
              </a:defRPr>
            </a:pPr>
            <a:r>
              <a:rPr sz="825" b="0">
                <a:solidFill>
                  <a:srgbClr val="66747E"/>
                </a:solidFill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BDBF87-EEC5-4297-B500-8B98A79EE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47800"/>
            <a:ext cx="3124200" cy="4400550"/>
          </a:xfrm>
          <a:prstGeom xmlns:a="http://schemas.openxmlformats.org/drawingml/2006/main" prst="roundRect">
            <a:avLst>
              <a:gd name="adj" fmla="val 122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7D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438C13-F26B-453D-A1EA-5F063289D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47800"/>
            <a:ext cx="3124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A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AD7D57-F383-4691-948A-FA65A43EE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573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A7F76"/>
                </a:solidFill>
              </a:defRPr>
            </a:pPr>
            <a:r>
              <a:rPr sz="1050" b="1">
                <a:solidFill>
                  <a:srgbClr val="2A7F76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1A5CD5-4FAF-48A5-BA77-0B133B214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52625"/>
            <a:ext cx="2743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2933"/>
                </a:solidFill>
              </a:defRPr>
            </a:pPr>
            <a:r>
              <a:rPr sz="1650" b="1">
                <a:solidFill>
                  <a:srgbClr val="1F2933"/>
                </a:solidFill>
              </a:rPr>
              <a:t>1D boundary 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3E4BAD-EDEC-4B77-A112-E09BC0CB1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05075"/>
            <a:ext cx="2743200" cy="2000250"/>
          </a:xfrm>
          <a:prstGeom xmlns:a="http://schemas.openxmlformats.org/drawingml/2006/main" prst="roundRect">
            <a:avLst>
              <a:gd name="adj" fmla="val 952"/>
            </a:avLst>
          </a:prstGeom>
          <a:solidFill xmlns:a="http://schemas.openxmlformats.org/drawingml/2006/main">
            <a:srgbClr val="F6F8F9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1bd1670a1c4c30"/>
          <a:stretch xmlns:a="http://schemas.openxmlformats.org/drawingml/2006/main"/>
        </p:blipFill>
        <p:spPr>
          <a:xfrm xmlns:a="http://schemas.openxmlformats.org/drawingml/2006/main">
            <a:off x="841572" y="2543175"/>
            <a:ext cx="2622157" cy="192405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0790DE-394D-4B2C-B10B-A6E2F755A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05350"/>
            <a:ext cx="274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47E"/>
                </a:solidFill>
              </a:defRPr>
            </a:pPr>
            <a:r>
              <a:rPr sz="1275" b="0">
                <a:solidFill>
                  <a:srgbClr val="66747E"/>
                </a:solidFill>
              </a:rPr>
              <a:t>A reduced network supplies flow and pressure at the local ports.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301526-C734-43C9-AED1-CC9B3E5F2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447800"/>
            <a:ext cx="3124200" cy="4400550"/>
          </a:xfrm>
          <a:prstGeom xmlns:a="http://schemas.openxmlformats.org/drawingml/2006/main" prst="roundRect">
            <a:avLst>
              <a:gd name="adj" fmla="val 122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7D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BE98AD-4AD5-40BB-96AD-A4E3970D7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447800"/>
            <a:ext cx="3124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F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596380-8074-45EC-91A2-B879864B7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6573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A7F76"/>
                </a:solidFill>
              </a:defRPr>
            </a:pPr>
            <a:r>
              <a:rPr sz="1050" b="1">
                <a:solidFill>
                  <a:srgbClr val="2A7F76"/>
                </a:solidFill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B44BE2-6E9E-4270-AB0C-DFB9B69A6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952625"/>
            <a:ext cx="2743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2933"/>
                </a:solidFill>
              </a:defRPr>
            </a:pPr>
            <a:r>
              <a:rPr sz="1650" b="1">
                <a:solidFill>
                  <a:srgbClr val="1F2933"/>
                </a:solidFill>
              </a:rPr>
              <a:t>CFD-ready surface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C6B539-9698-4BFC-A6EC-AF02C426E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505075"/>
            <a:ext cx="2743200" cy="2000250"/>
          </a:xfrm>
          <a:prstGeom xmlns:a="http://schemas.openxmlformats.org/drawingml/2006/main" prst="roundRect">
            <a:avLst>
              <a:gd name="adj" fmla="val 952"/>
            </a:avLst>
          </a:prstGeom>
          <a:solidFill xmlns:a="http://schemas.openxmlformats.org/drawingml/2006/main">
            <a:srgbClr val="F6F8F9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614ffcab3e40d5"/>
          <a:stretch xmlns:a="http://schemas.openxmlformats.org/drawingml/2006/main"/>
        </p:blipFill>
        <p:spPr>
          <a:xfrm xmlns:a="http://schemas.openxmlformats.org/drawingml/2006/main">
            <a:off x="4533900" y="2671763"/>
            <a:ext cx="2667000" cy="1666875"/>
          </a:xfrm>
          <a:prstGeom xmlns:a="http://schemas.openxmlformats.org/drawingml/2006/main" prst="rect">
            <a:avLst/>
          </a:prstGeom>
        </p:spPr>
      </p:pic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1D4ED4-9BCD-404D-9C95-41ABF8F2A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705350"/>
            <a:ext cx="274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47E"/>
                </a:solidFill>
              </a:defRPr>
            </a:pPr>
            <a:r>
              <a:rPr sz="1275" b="0">
                <a:solidFill>
                  <a:srgbClr val="66747E"/>
                </a:solidFill>
              </a:rPr>
              <a:t>Extensions and caps create clean regions for boundary conditions.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EA98E99-D9A3-4505-9616-DBB6DB354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447800"/>
            <a:ext cx="3124200" cy="4400550"/>
          </a:xfrm>
          <a:prstGeom xmlns:a="http://schemas.openxmlformats.org/drawingml/2006/main" prst="roundRect">
            <a:avLst>
              <a:gd name="adj" fmla="val 122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7D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D40442-5422-407D-B9AF-09BA4DD5E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447800"/>
            <a:ext cx="3124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E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88C2344-274F-4039-8BF5-676D95231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573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A7F76"/>
                </a:solidFill>
              </a:defRPr>
            </a:pPr>
            <a:r>
              <a:rPr sz="1050" b="1">
                <a:solidFill>
                  <a:srgbClr val="2A7F76"/>
                </a:solidFill>
              </a:rPr>
              <a:t>03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9D5C35-DD75-43CB-BD5B-65D9FE186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952625"/>
            <a:ext cx="2743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2933"/>
                </a:solidFill>
              </a:defRPr>
            </a:pPr>
            <a:r>
              <a:rPr sz="1650" b="1">
                <a:solidFill>
                  <a:srgbClr val="1F2933"/>
                </a:solidFill>
              </a:rPr>
              <a:t>3D flow solution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313F59F-E6EC-4148-93E4-2B0DC7B5E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505075"/>
            <a:ext cx="2743200" cy="2000250"/>
          </a:xfrm>
          <a:prstGeom xmlns:a="http://schemas.openxmlformats.org/drawingml/2006/main" prst="roundRect">
            <a:avLst>
              <a:gd name="adj" fmla="val 952"/>
            </a:avLst>
          </a:prstGeom>
          <a:solidFill xmlns:a="http://schemas.openxmlformats.org/drawingml/2006/main">
            <a:srgbClr val="F6F8F9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711e0bc3a1485d"/>
          <a:stretch xmlns:a="http://schemas.openxmlformats.org/drawingml/2006/main"/>
        </p:blipFill>
        <p:spPr>
          <a:xfrm xmlns:a="http://schemas.openxmlformats.org/drawingml/2006/main">
            <a:off x="8248650" y="2548661"/>
            <a:ext cx="2667000" cy="1913078"/>
          </a:xfrm>
          <a:prstGeom xmlns:a="http://schemas.openxmlformats.org/drawingml/2006/main" prst="rect">
            <a:avLst/>
          </a:prstGeom>
        </p:spPr>
      </p:pic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AC7CD07-D44A-4674-B6CE-061018706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705350"/>
            <a:ext cx="274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47E"/>
                </a:solidFill>
              </a:defRPr>
            </a:pPr>
            <a:r>
              <a:rPr sz="1275" b="0">
                <a:solidFill>
                  <a:srgbClr val="66747E"/>
                </a:solidFill>
              </a:rPr>
              <a:t>A validated lattice model resolves steady velocity and gauge pressure.</a:t>
            </a:r>
          </a:p>
        </p:txBody>
      </p:sp>
      <p:cxnSp>
        <p:nvCxnSpPr>
          <p:cNvPr id="118" name=""/>
          <p:cNvCxnSpPr>
            <a:stCxn xmlns:a="http://schemas.openxmlformats.org/drawingml/2006/main" id="6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3714750" y="3648075"/>
            <a:ext cx="5905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3A5F"/>
            </a:solidFill>
            <a:prstDash val="solid"/>
            <a:tailEnd type="triangle" w="sm" len="sm"/>
          </a:ln>
        </p:spPr>
      </p:cxnSp>
      <p:cxnSp>
        <p:nvCxnSpPr>
          <p:cNvPr id="119" name=""/>
          <p:cNvCxnSpPr>
            <a:stCxn xmlns:a="http://schemas.openxmlformats.org/drawingml/2006/main" id="13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7429500" y="3648075"/>
            <a:ext cx="5905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A7F76"/>
            </a:solidFill>
            <a:prstDash val="solid"/>
            <a:tailEnd type="triangle" w="sm" len="sm"/>
          </a:ln>
        </p:spPr>
      </p:cxn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7D01618-C4FC-4606-B4CC-035D8B00D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48375"/>
            <a:ext cx="1017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63A5F"/>
                </a:solidFill>
              </a:defRPr>
            </a:pPr>
            <a:r>
              <a:rPr sz="1125" b="1">
                <a:solidFill>
                  <a:srgbClr val="163A5F"/>
                </a:solidFill>
              </a:rPr>
              <a:t>Scientific hand-off at each stage: boundary values → geometry → validated field</a:t>
            </a:r>
          </a:p>
        </p:txBody>
      </p:sp>
    </p:spTree>
    <p:extLst>
      <p:ext uri="{BB962C8B-B14F-4D97-AF65-F5344CB8AC3E}">
        <p14:creationId xmlns:p14="http://schemas.microsoft.com/office/powerpoint/2010/main" val="198729953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2BA62A0-1D15-4D7A-A385-4D232C1B6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4325"/>
            <a:ext cx="1019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F2933"/>
                </a:solidFill>
              </a:defRPr>
            </a:pPr>
            <a:r>
              <a:rPr sz="2400" b="1">
                <a:solidFill>
                  <a:srgbClr val="1F2933"/>
                </a:solidFill>
              </a:rPr>
              <a:t>The 1D model supplies consistent 3D boundary conditions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6E35B6-E823-48F9-A874-06C60784F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409575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2A7F76"/>
                </a:solidFill>
              </a:defRPr>
            </a:pPr>
            <a:r>
              <a:rPr sz="900" b="1">
                <a:solidFill>
                  <a:srgbClr val="2A7F76"/>
                </a:solidFill>
              </a:rPr>
              <a:t>STAGE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73A0FB-644E-4E18-812E-E85213720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0965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7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78E351-1F92-41F9-842E-123B21F36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096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F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701488-0457-4CAF-8BB8-A783E6934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48652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6747E"/>
                </a:solidFill>
              </a:defRPr>
            </a:pPr>
            <a:r>
              <a:rPr sz="825" b="0">
                <a:solidFill>
                  <a:srgbClr val="66747E"/>
                </a:solidFill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E1FD0D-FF59-48D9-A9E1-21C57FEE8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76350"/>
            <a:ext cx="4953000" cy="2238375"/>
          </a:xfrm>
          <a:prstGeom xmlns:a="http://schemas.openxmlformats.org/drawingml/2006/main" prst="roundRect">
            <a:avLst>
              <a:gd name="adj" fmla="val 1277"/>
            </a:avLst>
          </a:prstGeom>
          <a:solidFill xmlns:a="http://schemas.openxmlformats.org/drawingml/2006/main">
            <a:srgbClr val="F6F8F9"/>
          </a:solidFill>
          <a:ln xmlns:a="http://schemas.openxmlformats.org/drawingml/2006/main" w="9525">
            <a:solidFill>
              <a:srgbClr val="CDD7DD"/>
            </a:solidFill>
            <a:prstDash val="solid"/>
          </a:ln>
        </p:spPr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5e8b30be604551"/>
          <a:stretch xmlns:a="http://schemas.openxmlformats.org/drawingml/2006/main"/>
        </p:blipFill>
        <p:spPr>
          <a:xfrm xmlns:a="http://schemas.openxmlformats.org/drawingml/2006/main">
            <a:off x="1581571" y="1333500"/>
            <a:ext cx="2894757" cy="21240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AC38AC-8D6C-4CDE-AB5A-8088D78CC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71600"/>
            <a:ext cx="3762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63A5F"/>
                </a:solidFill>
              </a:defRPr>
            </a:pPr>
            <a:r>
              <a:rPr sz="1125" b="1">
                <a:solidFill>
                  <a:srgbClr val="163A5F"/>
                </a:solidFill>
              </a:rPr>
              <a:t>Global network · color bar: pressure, p (Pa)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5DD0C0-54E4-4995-A3E6-647E21518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67125"/>
            <a:ext cx="4953000" cy="2381250"/>
          </a:xfrm>
          <a:prstGeom xmlns:a="http://schemas.openxmlformats.org/drawingml/2006/main" prst="roundRect">
            <a:avLst>
              <a:gd name="adj" fmla="val 1200"/>
            </a:avLst>
          </a:prstGeom>
          <a:solidFill xmlns:a="http://schemas.openxmlformats.org/drawingml/2006/main">
            <a:srgbClr val="F6F8F9"/>
          </a:solidFill>
          <a:ln xmlns:a="http://schemas.openxmlformats.org/drawingml/2006/main" w="9525">
            <a:solidFill>
              <a:srgbClr val="CDD7DD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846038d4e04358"/>
          <a:srcRect xmlns:a="http://schemas.openxmlformats.org/drawingml/2006/main" l="2000" t="8000" r="2000" b="10000"/>
          <a:stretch xmlns:a="http://schemas.openxmlformats.org/drawingml/2006/main"/>
        </p:blipFill>
        <p:spPr>
          <a:xfrm xmlns:a="http://schemas.openxmlformats.org/drawingml/2006/main">
            <a:off x="619125" y="3781425"/>
            <a:ext cx="3333750" cy="2190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C9688C-18B5-4349-8207-320248F6E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3810000"/>
            <a:ext cx="1381125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3A5F"/>
                </a:solidFill>
              </a:defRPr>
            </a:pPr>
            <a:r>
              <a:rPr sz="1275" b="1">
                <a:solidFill>
                  <a:srgbClr val="163A5F"/>
                </a:solidFill>
              </a:rPr>
              <a:t>Local ROI ports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163A5F"/>
                </a:solidFill>
              </a:defRPr>
            </a:pPr>
            <a:r>
              <a:rPr sz="1275" b="1">
                <a:solidFill>
                  <a:srgbClr val="163A5F"/>
                </a:solidFill>
              </a:rPr>
              <a:t>Q [pL/s] · p [Pa]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163A5F"/>
                </a:solidFill>
              </a:defRPr>
            </a:pPr>
            <a:r>
              <a:rPr sz="1275" b="1">
                <a:solidFill>
                  <a:srgbClr val="163A5F"/>
                </a:solidFill>
              </a:rPr>
              <a:t>IN   0.769 · 216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163A5F"/>
                </a:solidFill>
              </a:defRPr>
            </a:pPr>
            <a:r>
              <a:rPr sz="1275" b="1">
                <a:solidFill>
                  <a:srgbClr val="163A5F"/>
                </a:solidFill>
              </a:rPr>
              <a:t>O1   0.0485 · 17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163A5F"/>
                </a:solidFill>
              </a:defRPr>
            </a:pPr>
            <a:r>
              <a:rPr sz="1275" b="1">
                <a:solidFill>
                  <a:srgbClr val="163A5F"/>
                </a:solidFill>
              </a:rPr>
              <a:t>O2   0.382 · 152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163A5F"/>
                </a:solidFill>
              </a:defRPr>
            </a:pPr>
            <a:r>
              <a:rPr sz="1275" b="1">
                <a:solidFill>
                  <a:srgbClr val="163A5F"/>
                </a:solidFill>
              </a:rPr>
              <a:t>O3   0.339 · 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63B1CE-38A4-4C22-871F-4A811FA22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1276350"/>
            <a:ext cx="5867400" cy="4772025"/>
          </a:xfrm>
          <a:prstGeom xmlns:a="http://schemas.openxmlformats.org/drawingml/2006/main" prst="roundRect">
            <a:avLst>
              <a:gd name="adj" fmla="val 798"/>
            </a:avLst>
          </a:prstGeom>
          <a:solidFill xmlns:a="http://schemas.openxmlformats.org/drawingml/2006/main">
            <a:srgbClr val="F6F8F9"/>
          </a:solidFill>
          <a:ln xmlns:a="http://schemas.openxmlformats.org/drawingml/2006/main" w="9525">
            <a:solidFill>
              <a:srgbClr val="CDD7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C3B183-26E7-423C-AF09-10D77D7DA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438275"/>
            <a:ext cx="5257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2933"/>
                </a:solidFill>
              </a:defRPr>
            </a:pPr>
            <a:r>
              <a:rPr sz="1650" b="1">
                <a:solidFill>
                  <a:srgbClr val="1F2933"/>
                </a:solidFill>
              </a:rPr>
              <a:t>How the 3D boundary conditions are constructed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ADB7AF-9B13-43A3-9BB8-6D2AC7D95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952625"/>
            <a:ext cx="5372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7D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44BA65-653C-47B2-A208-D68F7EF03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955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63A5F"/>
                </a:solidFill>
              </a:defRPr>
            </a:pPr>
            <a:r>
              <a:rPr sz="1350" b="1">
                <a:solidFill>
                  <a:srgbClr val="163A5F"/>
                </a:solidFill>
              </a:rPr>
              <a:t>1 · Solve the 1D hydraulic network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A99199-8AD5-4EE3-B101-DB47F4623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409825"/>
            <a:ext cx="16764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F2933"/>
                </a:solidFill>
              </a:defRPr>
            </a:pPr>
            <a:r>
              <a:rPr sz="1800" b="1">
                <a:solidFill>
                  <a:srgbClr val="1F2933"/>
                </a:solidFill>
              </a:rPr>
              <a:t>Q = Δp / 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366795-4460-4920-A1F1-0767871C4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24288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F2933"/>
                </a:solidFill>
              </a:defRPr>
            </a:pPr>
            <a:r>
              <a:rPr sz="1425" b="1">
                <a:solidFill>
                  <a:srgbClr val="1F2933"/>
                </a:solidFill>
              </a:rPr>
              <a:t>R = (8μ/π) ∫₀ᴸ ds / r(s)⁴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F19616-5877-4FAD-8FE7-7E5B1665D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762250"/>
            <a:ext cx="5124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6747E"/>
                </a:solidFill>
              </a:defRPr>
            </a:pPr>
            <a:r>
              <a:rPr sz="1200" b="0">
                <a:solidFill>
                  <a:srgbClr val="66747E"/>
                </a:solidFill>
              </a:rPr>
              <a:t>Pressure drop, viscosity and vessel radius determine segment flow.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75A0B3-FB8F-4BAF-BBFC-E4ABB96C5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133725"/>
            <a:ext cx="5372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7D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882A02-2794-41BD-89D0-BF04C91D2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2766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7F76"/>
                </a:solidFill>
              </a:defRPr>
            </a:pPr>
            <a:r>
              <a:rPr sz="1350" b="1">
                <a:solidFill>
                  <a:srgbClr val="2A7F76"/>
                </a:solidFill>
              </a:rPr>
              <a:t>2 · Map 1D pressure onto the prepared ports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468286F-72DA-443A-8EFF-20428FEB2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581400"/>
            <a:ext cx="46101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F2933"/>
                </a:solidFill>
              </a:defRPr>
            </a:pPr>
            <a:r>
              <a:rPr sz="1575" b="1">
                <a:solidFill>
                  <a:srgbClr val="1F2933"/>
                </a:solidFill>
              </a:rPr>
              <a:t>p_cut = p_parent − Q R(0→cut)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31933A-BB53-4B97-AFA7-33EC7D51C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867150"/>
            <a:ext cx="5143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F2933"/>
                </a:solidFill>
              </a:defRPr>
            </a:pPr>
            <a:r>
              <a:rPr sz="1425" b="1">
                <a:solidFill>
                  <a:srgbClr val="1F2933"/>
                </a:solidFill>
              </a:rPr>
              <a:t>p_out,i^3D = p_cut,i − Q_i^1D R_i,extension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BF052D8-8359-4580-A958-82919583B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143375"/>
            <a:ext cx="521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6747E"/>
                </a:solidFill>
              </a:defRPr>
            </a:pPr>
            <a:r>
              <a:rPr sz="1200" b="0">
                <a:solidFill>
                  <a:srgbClr val="66747E"/>
                </a:solidFill>
              </a:rPr>
              <a:t>The second term removes the artificial extension pressure loss.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200D68B-CD21-41ED-ABDF-458D17CD5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67225"/>
            <a:ext cx="5372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7D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C2161BD-D715-4D06-B44C-06357BE19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591050"/>
            <a:ext cx="521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9E73"/>
                </a:solidFill>
              </a:defRPr>
            </a:pPr>
            <a:r>
              <a:rPr sz="1350" b="1">
                <a:solidFill>
                  <a:srgbClr val="009E73"/>
                </a:solidFill>
              </a:rPr>
              <a:t>3 · Apply the final solver boundaries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FDD80A8-5815-413F-B4A2-031E23A9D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933950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55E00"/>
                </a:solidFill>
              </a:defRPr>
            </a:pPr>
            <a:r>
              <a:rPr sz="975" b="1">
                <a:solidFill>
                  <a:srgbClr val="D55E00"/>
                </a:solidFill>
              </a:rPr>
              <a:t>INLET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433D5D2-7ABB-40FF-91A5-EEF5DCF4E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905375"/>
            <a:ext cx="44196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F2933"/>
                </a:solidFill>
              </a:defRPr>
            </a:pPr>
            <a:r>
              <a:rPr sz="1275" b="1">
                <a:solidFill>
                  <a:srgbClr val="1F2933"/>
                </a:solidFill>
              </a:rPr>
              <a:t>Q_target = u_mean,healthy A_inlet = ∫_A u·n dA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4E01D70-9677-499D-8E35-73204D8F4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33975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6747E"/>
                </a:solidFill>
              </a:defRPr>
            </a:pPr>
            <a:r>
              <a:rPr sz="1200" b="0">
                <a:solidFill>
                  <a:srgbClr val="66747E"/>
                </a:solidFill>
              </a:rPr>
              <a:t>adaptive_flux_pressure adjusts inlet pressure to match Q_target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8E5A3AD-FB9D-4AD4-83F2-FDCEF246F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5429250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72B2"/>
                </a:solidFill>
              </a:defRPr>
            </a:pPr>
            <a:r>
              <a:rPr sz="975" b="1">
                <a:solidFill>
                  <a:srgbClr val="0072B2"/>
                </a:solidFill>
              </a:rPr>
              <a:t>OUTLETS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79C7A35-EC54-4138-8E72-E1AC9621B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400675"/>
            <a:ext cx="36766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F2933"/>
                </a:solidFill>
              </a:defRPr>
            </a:pPr>
            <a:r>
              <a:rPr sz="1275" b="1">
                <a:solidFill>
                  <a:srgbClr val="1F2933"/>
                </a:solidFill>
              </a:rPr>
              <a:t>pressure_eq: p_gauge,i = p_out,i^3D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EC8ED93-841E-47F6-BEC2-1EE4AD0E6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5695950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63A5F"/>
                </a:solidFill>
              </a:defRPr>
            </a:pPr>
            <a:r>
              <a:rPr sz="975" b="1">
                <a:solidFill>
                  <a:srgbClr val="163A5F"/>
                </a:solidFill>
              </a:rPr>
              <a:t>WALL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86CA23F-7114-429A-B42D-480F236CA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667375"/>
            <a:ext cx="2381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F2933"/>
                </a:solidFill>
              </a:defRPr>
            </a:pPr>
            <a:r>
              <a:rPr sz="1275" b="1">
                <a:solidFill>
                  <a:srgbClr val="1F2933"/>
                </a:solidFill>
              </a:rPr>
              <a:t>wall_libb: u_wall = 0</a:t>
            </a:r>
          </a:p>
        </p:txBody>
      </p:sp>
    </p:spTree>
    <p:extLst>
      <p:ext uri="{BB962C8B-B14F-4D97-AF65-F5344CB8AC3E}">
        <p14:creationId xmlns:p14="http://schemas.microsoft.com/office/powerpoint/2010/main" val="8483202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1E434CF-E81F-4281-A9E1-773C80413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4325"/>
            <a:ext cx="1019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F2933"/>
                </a:solidFill>
              </a:defRPr>
            </a:pPr>
            <a:r>
              <a:rPr sz="2400" b="1">
                <a:solidFill>
                  <a:srgbClr val="1F2933"/>
                </a:solidFill>
              </a:rPr>
              <a:t>Surface preparation creates a clean solver-ready vascular domain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9EFDE6-8106-4176-B447-39E37EF19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409575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2A7F76"/>
                </a:solidFill>
              </a:defRPr>
            </a:pPr>
            <a:r>
              <a:rPr sz="900" b="1">
                <a:solidFill>
                  <a:srgbClr val="2A7F76"/>
                </a:solidFill>
              </a:rPr>
              <a:t>STAGE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E6780E-D153-4C7F-86CA-CED13A3B3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0965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7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D8E819-BE36-418D-96A5-557A8EDBE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096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F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6A2D76-08E7-4FEA-8707-9D64D0525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48652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6747E"/>
                </a:solidFill>
              </a:defRPr>
            </a:pPr>
            <a:r>
              <a:rPr sz="825" b="0">
                <a:solidFill>
                  <a:srgbClr val="66747E"/>
                </a:solidFill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BBEF7D-DF52-4452-AF77-83DED3D99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85875"/>
            <a:ext cx="11087100" cy="3905250"/>
          </a:xfrm>
          <a:prstGeom xmlns:a="http://schemas.openxmlformats.org/drawingml/2006/main" prst="roundRect">
            <a:avLst>
              <a:gd name="adj" fmla="val 732"/>
            </a:avLst>
          </a:prstGeom>
          <a:solidFill xmlns:a="http://schemas.openxmlformats.org/drawingml/2006/main">
            <a:srgbClr val="F6F8F9"/>
          </a:solidFill>
          <a:ln xmlns:a="http://schemas.openxmlformats.org/drawingml/2006/main" w="9525">
            <a:solidFill>
              <a:srgbClr val="CDD7DD"/>
            </a:solidFill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5e65f9384b4c85"/>
          <a:stretch xmlns:a="http://schemas.openxmlformats.org/drawingml/2006/main"/>
        </p:blipFill>
        <p:spPr>
          <a:xfrm xmlns:a="http://schemas.openxmlformats.org/drawingml/2006/main">
            <a:off x="628650" y="1542672"/>
            <a:ext cx="10934700" cy="3391656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538AF6-3A9E-43E1-B3AB-F5DFD936D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4859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66747E"/>
                </a:solidFill>
              </a:defRPr>
            </a:pPr>
            <a:r>
              <a:rPr sz="1125" b="1">
                <a:solidFill>
                  <a:srgbClr val="66747E"/>
                </a:solidFill>
              </a:rPr>
              <a:t>BEFORE · open cut surface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697437-FFA1-4A15-A9A6-0BBAD4EF5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859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A7F76"/>
                </a:solidFill>
              </a:defRPr>
            </a:pPr>
            <a:r>
              <a:rPr sz="1125" b="1">
                <a:solidFill>
                  <a:srgbClr val="2A7F76"/>
                </a:solidFill>
              </a:rPr>
              <a:t>AFTER · extended and capped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70539E-2D4E-4131-A409-F472F0EE9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495425"/>
            <a:ext cx="0" cy="3448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DD7D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323E7D-D0B6-415B-9E77-694DAFF26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809625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7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553316-6788-4A68-9363-3A14FDE2A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816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63A5F"/>
                </a:solidFill>
              </a:defRPr>
            </a:pPr>
            <a:r>
              <a:rPr sz="1350" b="1">
                <a:solidFill>
                  <a:srgbClr val="163A5F"/>
                </a:solidFill>
              </a:rPr>
              <a:t>Core preserved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00AFE5-4E20-4FC6-9649-612DFB9ED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674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47E"/>
                </a:solidFill>
              </a:defRPr>
            </a:pPr>
            <a:r>
              <a:rPr sz="1050" b="0">
                <a:solidFill>
                  <a:srgbClr val="66747E"/>
                </a:solidFill>
              </a:rPr>
              <a:t>0 μm max far-core motion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D676FB-FD5B-43D6-98FB-2F99BE660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55816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7F76"/>
                </a:solidFill>
              </a:defRPr>
            </a:pPr>
            <a:r>
              <a:rPr sz="1350" b="1">
                <a:solidFill>
                  <a:srgbClr val="2A7F76"/>
                </a:solidFill>
              </a:rPr>
              <a:t>Boundary-ready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F25584-BE7B-4924-B15A-CC21B7A63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5867400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47E"/>
                </a:solidFill>
              </a:defRPr>
            </a:pPr>
            <a:r>
              <a:rPr sz="1050" b="0">
                <a:solidFill>
                  <a:srgbClr val="66747E"/>
                </a:solidFill>
              </a:rPr>
              <a:t>4 capped ports · 1 component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2A2589-C8F6-405F-AF9B-36E731EA8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55816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F2933"/>
                </a:solidFill>
              </a:defRPr>
            </a:pPr>
            <a:r>
              <a:rPr sz="1350" b="1">
                <a:solidFill>
                  <a:srgbClr val="1F2933"/>
                </a:solidFill>
              </a:rPr>
              <a:t>Geometry QC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15D3A2-1BAA-4D43-A3A7-BBD746E52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5867400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47E"/>
                </a:solidFill>
              </a:defRPr>
            </a:pPr>
            <a:r>
              <a:rPr sz="1050" b="0">
                <a:solidFill>
                  <a:srgbClr val="66747E"/>
                </a:solidFill>
              </a:rPr>
              <a:t>Watertight · 0 intersections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A8F0F5-5DC8-45A6-A836-063704A06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5149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7DE11C-99FE-4043-B404-0711CE6E4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54673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6747E"/>
                </a:solidFill>
              </a:defRPr>
            </a:pPr>
            <a:r>
              <a:rPr sz="825" b="0">
                <a:solidFill>
                  <a:srgbClr val="66747E"/>
                </a:solidFill>
              </a:rPr>
              <a:t>Inlet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DE9AED-2287-43D5-81BB-078E1E147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6769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96F14F2-A3B0-47DD-B0A5-A578C659D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5629275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6747E"/>
                </a:solidFill>
              </a:defRPr>
            </a:pPr>
            <a:r>
              <a:rPr sz="825" b="0">
                <a:solidFill>
                  <a:srgbClr val="66747E"/>
                </a:solidFill>
              </a:rPr>
              <a:t>Outlet 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0AFF916-66B9-42B1-B52D-6BC9E7BD1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838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E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EC14F50-3848-4ECE-A280-059C9665A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579120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6747E"/>
                </a:solidFill>
              </a:defRPr>
            </a:pPr>
            <a:r>
              <a:rPr sz="825" b="0">
                <a:solidFill>
                  <a:srgbClr val="66747E"/>
                </a:solidFill>
              </a:rPr>
              <a:t>Outlet 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6753557-5265-4217-8B4F-713539BD9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000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9A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D6ED8B6-8C04-4B23-8AC4-CC32D5E4D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5953125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6747E"/>
                </a:solidFill>
              </a:defRPr>
            </a:pPr>
            <a:r>
              <a:rPr sz="825" b="0">
                <a:solidFill>
                  <a:srgbClr val="66747E"/>
                </a:solidFill>
              </a:rPr>
              <a:t>Outlet 3</a:t>
            </a:r>
          </a:p>
        </p:txBody>
      </p:sp>
    </p:spTree>
    <p:extLst>
      <p:ext uri="{BB962C8B-B14F-4D97-AF65-F5344CB8AC3E}">
        <p14:creationId xmlns:p14="http://schemas.microsoft.com/office/powerpoint/2010/main" val="116834826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F0C7F45-6FE3-426B-8F57-31A606129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4325"/>
            <a:ext cx="1019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F2933"/>
                </a:solidFill>
              </a:defRPr>
            </a:pPr>
            <a:r>
              <a:rPr sz="2400" b="1">
                <a:solidFill>
                  <a:srgbClr val="1F2933"/>
                </a:solidFill>
              </a:rPr>
              <a:t>The 3D solver uses a validated lattice-Boltzmann configuration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41DB89-8422-4833-AB35-A076E3F98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409575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2A7F76"/>
                </a:solidFill>
              </a:defRPr>
            </a:pPr>
            <a:r>
              <a:rPr sz="900" b="1">
                <a:solidFill>
                  <a:srgbClr val="2A7F76"/>
                </a:solidFill>
              </a:rPr>
              <a:t>STAGE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B869B7-B3BB-4840-97B4-3F554B470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0965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7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D501C6-D7CC-4E1A-B9CF-197F9D066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096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F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219B31-34A8-4AA0-8301-E3F652A3F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48652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6747E"/>
                </a:solidFill>
              </a:defRPr>
            </a:pPr>
            <a:r>
              <a:rPr sz="825" b="0">
                <a:solidFill>
                  <a:srgbClr val="66747E"/>
                </a:solidFill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6AA0C0-A24D-4668-AE76-F082F2CD0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38250"/>
            <a:ext cx="742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6747E"/>
                </a:solidFill>
              </a:defRPr>
            </a:pPr>
            <a:r>
              <a:rPr sz="1350" b="0">
                <a:solidFill>
                  <a:srgbClr val="66747E"/>
                </a:solidFill>
              </a:rPr>
              <a:t>A uniform lattice advances local particle populations until the physical flow field becomes steady.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4805E7-0552-41D1-B1DB-64ACA05FE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57400"/>
            <a:ext cx="2667000" cy="1695450"/>
          </a:xfrm>
          <a:prstGeom xmlns:a="http://schemas.openxmlformats.org/drawingml/2006/main" prst="roundRect">
            <a:avLst>
              <a:gd name="adj" fmla="val 28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7D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C64C4B-C5B3-459C-B522-F0BE9383A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57400"/>
            <a:ext cx="2667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A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7C158E-22F7-4DE5-83F0-96C467B6C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24100"/>
            <a:ext cx="2247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F2933"/>
                </a:solidFill>
              </a:defRPr>
            </a:pPr>
            <a:r>
              <a:rPr sz="1575" b="1">
                <a:solidFill>
                  <a:srgbClr val="1F2933"/>
                </a:solidFill>
              </a:rPr>
              <a:t>Uniform 3D lattice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6BB961-C504-451A-9460-FDED48F62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19400"/>
            <a:ext cx="219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6747E"/>
                </a:solidFill>
              </a:defRPr>
            </a:pPr>
            <a:r>
              <a:rPr sz="1200" b="0">
                <a:solidFill>
                  <a:srgbClr val="66747E"/>
                </a:solidFill>
              </a:rPr>
              <a:t>The lumen is represented by 182,320 fluid cells.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A506DF-1E57-4BAD-A918-2EBC5C97D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057400"/>
            <a:ext cx="2667000" cy="1695450"/>
          </a:xfrm>
          <a:prstGeom xmlns:a="http://schemas.openxmlformats.org/drawingml/2006/main" prst="roundRect">
            <a:avLst>
              <a:gd name="adj" fmla="val 28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7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0574CA-6398-407D-BE1D-E9BFAC5DA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057400"/>
            <a:ext cx="2667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F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5D9978-CDAE-4C4B-8A92-3DD053277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2324100"/>
            <a:ext cx="2247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F2933"/>
                </a:solidFill>
              </a:defRPr>
            </a:pPr>
            <a:r>
              <a:rPr sz="1575" b="1">
                <a:solidFill>
                  <a:srgbClr val="1F2933"/>
                </a:solidFill>
              </a:rPr>
              <a:t>Stream &amp; collide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E0B499-6BE6-4AF7-96FC-03CFF7461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2819400"/>
            <a:ext cx="219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6747E"/>
                </a:solidFill>
              </a:defRPr>
            </a:pPr>
            <a:r>
              <a:rPr sz="1200" b="0">
                <a:solidFill>
                  <a:srgbClr val="66747E"/>
                </a:solidFill>
              </a:rPr>
              <a:t>D3Q19 populations exchange information locally.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44BB8E-3BBF-403D-B331-EAC9691B7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57400"/>
            <a:ext cx="2667000" cy="1695450"/>
          </a:xfrm>
          <a:prstGeom xmlns:a="http://schemas.openxmlformats.org/drawingml/2006/main" prst="roundRect">
            <a:avLst>
              <a:gd name="adj" fmla="val 28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7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9E5133-8D95-4430-9334-5C4533980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57400"/>
            <a:ext cx="2667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E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19D105-F471-42B6-A8A0-E36CAA32E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324100"/>
            <a:ext cx="2247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F2933"/>
                </a:solidFill>
              </a:defRPr>
            </a:pPr>
            <a:r>
              <a:rPr sz="1575" b="1">
                <a:solidFill>
                  <a:srgbClr val="1F2933"/>
                </a:solidFill>
              </a:rPr>
              <a:t>Steady physical field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AAC141-A30D-4DB6-9F96-BD400B685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819400"/>
            <a:ext cx="219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6747E"/>
                </a:solidFill>
              </a:defRPr>
            </a:pPr>
            <a:r>
              <a:rPr sz="1200" b="0">
                <a:solidFill>
                  <a:srgbClr val="66747E"/>
                </a:solidFill>
              </a:rPr>
              <a:t>Velocity and gauge pressure are recovered in SI units.</a:t>
            </a:r>
          </a:p>
        </p:txBody>
      </p:sp>
      <p:cxnSp>
        <p:nvCxnSpPr>
          <p:cNvPr id="98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3333750" y="2905125"/>
            <a:ext cx="6191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3A5F"/>
            </a:solidFill>
            <a:prstDash val="solid"/>
            <a:tailEnd type="triangle" w="sm" len="sm"/>
          </a:ln>
        </p:spPr>
      </p:cxnSp>
      <p:cxnSp>
        <p:nvCxnSpPr>
          <p:cNvPr id="99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6619875" y="2905125"/>
            <a:ext cx="6191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A7F76"/>
            </a:solidFill>
            <a:prstDash val="solid"/>
            <a:tailEnd type="triangle" w="sm" len="sm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84AFAF-96C6-4559-872F-DB63624F5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1981200"/>
            <a:ext cx="1257300" cy="1847850"/>
          </a:xfrm>
          <a:prstGeom xmlns:a="http://schemas.openxmlformats.org/drawingml/2006/main" prst="roundRect">
            <a:avLst>
              <a:gd name="adj" fmla="val 3788"/>
            </a:avLst>
          </a:prstGeom>
          <a:solidFill xmlns:a="http://schemas.openxmlformats.org/drawingml/2006/main">
            <a:srgbClr val="EEF4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3EB990-A69F-4F2B-B68B-58BA03510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2190750"/>
            <a:ext cx="990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2A7F76"/>
                </a:solidFill>
              </a:defRPr>
            </a:pPr>
            <a:r>
              <a:rPr sz="900" b="1">
                <a:solidFill>
                  <a:srgbClr val="2A7F76"/>
                </a:solidFill>
              </a:rPr>
              <a:t>DRIVING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6009C04-0981-4569-B37D-EE4857DDE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2543175"/>
            <a:ext cx="990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63A5F"/>
                </a:solidFill>
              </a:defRPr>
            </a:pPr>
            <a:r>
              <a:rPr sz="1200" b="1">
                <a:solidFill>
                  <a:srgbClr val="163A5F"/>
                </a:solidFill>
              </a:rPr>
              <a:t>Adaptive</a:t>
            </a:r>
          </a:p>
          <a:p xmlns:a="http://schemas.openxmlformats.org/drawingml/2006/main">
            <a:pPr algn="ctr">
              <a:buNone/>
              <a:defRPr sz="1200" b="1">
                <a:solidFill>
                  <a:srgbClr val="163A5F"/>
                </a:solidFill>
              </a:defRPr>
            </a:pPr>
            <a:r>
              <a:rPr sz="1200" b="1">
                <a:solidFill>
                  <a:srgbClr val="163A5F"/>
                </a:solidFill>
              </a:rPr>
              <a:t>inlet flow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2FEF0B8-6A14-48CC-80A4-8CA566154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095625"/>
            <a:ext cx="876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7D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0A6ECCB-EC2A-44B8-BC12-004DB2F47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3238500"/>
            <a:ext cx="990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F2933"/>
                </a:solidFill>
              </a:defRPr>
            </a:pPr>
            <a:r>
              <a:rPr sz="1125" b="0">
                <a:solidFill>
                  <a:srgbClr val="1F2933"/>
                </a:solidFill>
              </a:rPr>
              <a:t>3 outlet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F2933"/>
                </a:solidFill>
              </a:defRPr>
            </a:pPr>
            <a:r>
              <a:rPr sz="1125" b="0">
                <a:solidFill>
                  <a:srgbClr val="1F2933"/>
                </a:solidFill>
              </a:rPr>
              <a:t>gauge pressures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5309DF4-5499-48CB-85C8-DEC9B9664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05300"/>
            <a:ext cx="419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2933"/>
                </a:solidFill>
              </a:defRPr>
            </a:pPr>
            <a:r>
              <a:rPr sz="1650" b="1">
                <a:solidFill>
                  <a:srgbClr val="1F2933"/>
                </a:solidFill>
              </a:rPr>
              <a:t>Validated Base configuration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C94D895-3443-43DA-B9A9-80BF14C35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38700"/>
            <a:ext cx="2209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63A5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E877017-74B4-4DC6-8605-E9DD2DDBC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0150"/>
            <a:ext cx="1047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66747E"/>
                </a:solidFill>
              </a:defRPr>
            </a:pPr>
            <a:r>
              <a:rPr sz="1050" b="1">
                <a:solidFill>
                  <a:srgbClr val="66747E"/>
                </a:solidFill>
              </a:rPr>
              <a:t>dx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CD6707C-340A-496C-B23C-CB8E03F2A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05425"/>
            <a:ext cx="2209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F2933"/>
                </a:solidFill>
              </a:defRPr>
            </a:pPr>
            <a:r>
              <a:rPr sz="1725" b="1">
                <a:solidFill>
                  <a:srgbClr val="1F2933"/>
                </a:solidFill>
              </a:rPr>
              <a:t>0.20 μm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114A699-08A8-4DFB-BC74-0B857B6C6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838700"/>
            <a:ext cx="2209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7F76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0676292-E46F-4DF0-A5D1-64C97BC9F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5010150"/>
            <a:ext cx="1047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66747E"/>
                </a:solidFill>
              </a:defRPr>
            </a:pPr>
            <a:r>
              <a:rPr sz="1050" b="1">
                <a:solidFill>
                  <a:srgbClr val="66747E"/>
                </a:solidFill>
              </a:rPr>
              <a:t>dt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536BED2-F1CC-400C-98AF-40E19A011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5305425"/>
            <a:ext cx="2209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F2933"/>
                </a:solidFill>
              </a:defRPr>
            </a:pPr>
            <a:r>
              <a:rPr sz="1725" b="1">
                <a:solidFill>
                  <a:srgbClr val="1F2933"/>
                </a:solidFill>
              </a:rPr>
              <a:t>2.039 ns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2EFE67C-A01E-46A4-9B8D-D5337E95D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838700"/>
            <a:ext cx="2209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7F76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E7FEFE2-4177-47EF-A02E-F9551338E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010150"/>
            <a:ext cx="1047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66747E"/>
                </a:solidFill>
              </a:defRPr>
            </a:pPr>
            <a:r>
              <a:rPr sz="1050" b="1">
                <a:solidFill>
                  <a:srgbClr val="66747E"/>
                </a:solidFill>
              </a:rPr>
              <a:t>τ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464A34-FE57-4633-8E5D-C506F8AAF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305425"/>
            <a:ext cx="2209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F2933"/>
                </a:solidFill>
              </a:defRPr>
            </a:pPr>
            <a:r>
              <a:rPr sz="1725" b="1">
                <a:solidFill>
                  <a:srgbClr val="1F2933"/>
                </a:solidFill>
              </a:rPr>
              <a:t>1.0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63ED617-2F85-49D0-8725-188111E62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838700"/>
            <a:ext cx="2209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7F76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BF27FAC-0ACE-435B-90E6-199E5B98D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010150"/>
            <a:ext cx="1047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66747E"/>
                </a:solidFill>
              </a:defRPr>
            </a:pPr>
            <a:r>
              <a:rPr sz="1050" b="1">
                <a:solidFill>
                  <a:srgbClr val="66747E"/>
                </a:solidFill>
              </a:rPr>
              <a:t>Target Q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701327E-3483-4DB9-A283-BE187602F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305425"/>
            <a:ext cx="2209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F2933"/>
                </a:solidFill>
              </a:defRPr>
            </a:pPr>
            <a:r>
              <a:rPr sz="1725" b="1">
                <a:solidFill>
                  <a:srgbClr val="1F2933"/>
                </a:solidFill>
              </a:rPr>
              <a:t>0.164 nL/min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2C24521-7DD6-4D9F-9228-2779DC8BA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72175"/>
            <a:ext cx="4000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47E"/>
                </a:solidFill>
              </a:defRPr>
            </a:pPr>
            <a:r>
              <a:rPr sz="1050" b="0">
                <a:solidFill>
                  <a:srgbClr val="66747E"/>
                </a:solidFill>
              </a:rPr>
              <a:t>Diffusive scaling: dt = dx² / (6ν)</a:t>
            </a:r>
          </a:p>
        </p:txBody>
      </p:sp>
    </p:spTree>
    <p:extLst>
      <p:ext uri="{BB962C8B-B14F-4D97-AF65-F5344CB8AC3E}">
        <p14:creationId xmlns:p14="http://schemas.microsoft.com/office/powerpoint/2010/main" val="83763657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B6AC5E-5356-4751-88D1-9F9DBCB80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4325"/>
            <a:ext cx="1019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F2933"/>
                </a:solidFill>
              </a:defRPr>
            </a:pPr>
            <a:r>
              <a:rPr sz="2400" b="1">
                <a:solidFill>
                  <a:srgbClr val="1F2933"/>
                </a:solidFill>
              </a:rPr>
              <a:t>Steady CFD resolves velocity across vascular branches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74C753-BDB9-48D7-BC09-B0120EEFA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409575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2A7F76"/>
                </a:solidFill>
              </a:defRPr>
            </a:pPr>
            <a:r>
              <a:rPr sz="900" b="1">
                <a:solidFill>
                  <a:srgbClr val="2A7F76"/>
                </a:solidFill>
              </a:rPr>
              <a:t>RESULT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CB0210-DF62-44BE-9715-39517D524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0965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7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113DAD-138E-4DAA-A66A-8632F2FD2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096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F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DA7889-F428-4FEE-8A4D-92D600A0D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48652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6747E"/>
                </a:solidFill>
              </a:defRPr>
            </a:pPr>
            <a:r>
              <a:rPr sz="825" b="0">
                <a:solidFill>
                  <a:srgbClr val="66747E"/>
                </a:solidFill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96551E-B104-42C2-9126-A130474D4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66825"/>
            <a:ext cx="8229600" cy="4762500"/>
          </a:xfrm>
          <a:prstGeom xmlns:a="http://schemas.openxmlformats.org/drawingml/2006/main" prst="roundRect">
            <a:avLst>
              <a:gd name="adj" fmla="val 600"/>
            </a:avLst>
          </a:prstGeom>
          <a:solidFill xmlns:a="http://schemas.openxmlformats.org/drawingml/2006/main">
            <a:srgbClr val="F6F8F9"/>
          </a:solidFill>
          <a:ln xmlns:a="http://schemas.openxmlformats.org/drawingml/2006/main" w="9525">
            <a:solidFill>
              <a:srgbClr val="CDD7DD"/>
            </a:solidFill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f1fb53f45c4809"/>
          <a:stretch xmlns:a="http://schemas.openxmlformats.org/drawingml/2006/main"/>
        </p:blipFill>
        <p:spPr>
          <a:xfrm xmlns:a="http://schemas.openxmlformats.org/drawingml/2006/main">
            <a:off x="1453806" y="1343025"/>
            <a:ext cx="6426888" cy="46101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BD7D67-CFA7-4E0E-BC80-79CDC92BA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38275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63A5F"/>
                </a:solidFill>
              </a:defRPr>
            </a:pPr>
            <a:r>
              <a:rPr sz="900" b="1">
                <a:solidFill>
                  <a:srgbClr val="163A5F"/>
                </a:solidFill>
              </a:rPr>
              <a:t>PHYSICAL VELOCITY · mm s⁻¹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0EF4B0-C095-4DEB-9347-60DC234C6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457325"/>
            <a:ext cx="2571750" cy="112395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EEF4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FC8FBA-4365-4D28-9289-7A32A088D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666875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63A5F"/>
                </a:solidFill>
              </a:defRPr>
            </a:pPr>
            <a:r>
              <a:rPr sz="1875" b="1">
                <a:solidFill>
                  <a:srgbClr val="163A5F"/>
                </a:solidFill>
              </a:rPr>
              <a:t>0.177 mm s⁻¹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24DD65-4BC6-4410-9261-186631933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076450"/>
            <a:ext cx="2152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47E"/>
                </a:solidFill>
              </a:defRPr>
            </a:pPr>
            <a:r>
              <a:rPr sz="1050" b="0">
                <a:solidFill>
                  <a:srgbClr val="66747E"/>
                </a:solidFill>
              </a:rPr>
              <a:t>mean speed across the accepted Base field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1EAFE6-B79D-49D6-80AF-4F0F3A307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771775"/>
            <a:ext cx="2571750" cy="112395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7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2E8726-F8CB-4275-9C47-96D88947B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981325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A7F76"/>
                </a:solidFill>
              </a:defRPr>
            </a:pPr>
            <a:r>
              <a:rPr sz="1875" b="1">
                <a:solidFill>
                  <a:srgbClr val="2A7F76"/>
                </a:solidFill>
              </a:rPr>
              <a:t>598,755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7526A3-2D30-4AD3-86E7-ECF5D04FE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39090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47E"/>
                </a:solidFill>
              </a:defRPr>
            </a:pPr>
            <a:r>
              <a:rPr sz="1050" b="0">
                <a:solidFill>
                  <a:srgbClr val="66747E"/>
                </a:solidFill>
              </a:rPr>
              <a:t>accepted steady-state iteration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50228A-71FA-4984-A714-8CD0EC50C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333875"/>
            <a:ext cx="257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7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D7F736-7D85-4F60-BF2A-D515FE102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5148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F2933"/>
                </a:solidFill>
              </a:defRPr>
            </a:pPr>
            <a:r>
              <a:rPr sz="1200" b="1">
                <a:solidFill>
                  <a:srgbClr val="1F2933"/>
                </a:solidFill>
              </a:rPr>
              <a:t>Interpretation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3575E6-CC25-423B-B17D-8CA87DFFC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895850"/>
            <a:ext cx="238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47E"/>
                </a:solidFill>
              </a:defRPr>
            </a:pPr>
            <a:r>
              <a:rPr sz="1275" b="0">
                <a:solidFill>
                  <a:srgbClr val="66747E"/>
                </a:solidFill>
              </a:rPr>
              <a:t>Higher-speed colors are localized around the inlet and selected branch segments.</a:t>
            </a:r>
          </a:p>
        </p:txBody>
      </p:sp>
    </p:spTree>
    <p:extLst>
      <p:ext uri="{BB962C8B-B14F-4D97-AF65-F5344CB8AC3E}">
        <p14:creationId xmlns:p14="http://schemas.microsoft.com/office/powerpoint/2010/main" val="144208595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CC4606-2A13-4B03-B368-1152C9A02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4325"/>
            <a:ext cx="1019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F2933"/>
                </a:solidFill>
              </a:defRPr>
            </a:pPr>
            <a:r>
              <a:rPr sz="2400" b="1">
                <a:solidFill>
                  <a:srgbClr val="1F2933"/>
                </a:solidFill>
              </a:rPr>
              <a:t>Flow and gauge pressure remain consistent across three outlets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2DCA8F-E4C2-4650-A3F7-0FC782688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409575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2A7F76"/>
                </a:solidFill>
              </a:defRPr>
            </a:pPr>
            <a:r>
              <a:rPr sz="900" b="1">
                <a:solidFill>
                  <a:srgbClr val="2A7F76"/>
                </a:solidFill>
              </a:rPr>
              <a:t>QUANTITATIVE RESULT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D91791-4262-4602-9434-026FA789C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0965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7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04673F-3FFE-4402-877F-3A1C4F23D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096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F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6EA322-F7B6-479B-8E2B-797DC7E06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48652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6747E"/>
                </a:solidFill>
              </a:defRPr>
            </a:pPr>
            <a:r>
              <a:rPr sz="825" b="0">
                <a:solidFill>
                  <a:srgbClr val="66747E"/>
                </a:solidFill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5FF7A9-345B-49F4-A0F8-B656F9B38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95400"/>
            <a:ext cx="6334125" cy="4572000"/>
          </a:xfrm>
          <a:prstGeom xmlns:a="http://schemas.openxmlformats.org/drawingml/2006/main" prst="roundRect">
            <a:avLst>
              <a:gd name="adj" fmla="val 625"/>
            </a:avLst>
          </a:prstGeom>
          <a:solidFill xmlns:a="http://schemas.openxmlformats.org/drawingml/2006/main">
            <a:srgbClr val="F6F8F9"/>
          </a:solidFill>
          <a:ln xmlns:a="http://schemas.openxmlformats.org/drawingml/2006/main" w="9525">
            <a:solidFill>
              <a:srgbClr val="CDD7DD"/>
            </a:solidFill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d62f8d53fa4758"/>
          <a:stretch xmlns:a="http://schemas.openxmlformats.org/drawingml/2006/main"/>
        </p:blipFill>
        <p:spPr>
          <a:xfrm xmlns:a="http://schemas.openxmlformats.org/drawingml/2006/main">
            <a:off x="638855" y="1371600"/>
            <a:ext cx="6161314" cy="44196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CC8C88-040A-44A9-B6D8-5A3A79169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668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63A5F"/>
                </a:solidFill>
              </a:defRPr>
            </a:pPr>
            <a:r>
              <a:rPr sz="900" b="1">
                <a:solidFill>
                  <a:srgbClr val="163A5F"/>
                </a:solidFill>
              </a:rPr>
              <a:t>GAUGE PRESSURE · Pa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34277C-79C3-4B9B-900E-198BCF233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333500"/>
            <a:ext cx="409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2933"/>
                </a:solidFill>
              </a:defRPr>
            </a:pPr>
            <a:r>
              <a:rPr sz="1650" b="1">
                <a:solidFill>
                  <a:srgbClr val="1F2933"/>
                </a:solidFill>
              </a:rPr>
              <a:t>Outlet flow split</a:t>
            </a:r>
          </a:p>
        </p:txBody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7143750" y="1714500"/>
          <a:ext xmlns:a="http://schemas.openxmlformats.org/drawingml/2006/main" cx="4286250" cy="2571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a5fb372bece4240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DDECC3-D5C8-4FD0-A7CF-3E02C6165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514850"/>
            <a:ext cx="409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7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DD24EF-509D-4D04-95F0-848FA139A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68630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63A5F"/>
                </a:solidFill>
              </a:defRPr>
            </a:pPr>
            <a:r>
              <a:rPr sz="1800" b="1">
                <a:solidFill>
                  <a:srgbClr val="163A5F"/>
                </a:solidFill>
              </a:rPr>
              <a:t>0.164 → 0.163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AFB414-705F-4EAC-92E3-A31A5F37D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057775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6747E"/>
                </a:solidFill>
              </a:defRPr>
            </a:pPr>
            <a:r>
              <a:rPr sz="975" b="0">
                <a:solidFill>
                  <a:srgbClr val="66747E"/>
                </a:solidFill>
              </a:rPr>
              <a:t>inlet → outlet (nL/min)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0943A2-2955-4010-8557-66AAD6BDC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6863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A7F76"/>
                </a:solidFill>
              </a:defRPr>
            </a:pPr>
            <a:r>
              <a:rPr sz="1800" b="1">
                <a:solidFill>
                  <a:srgbClr val="2A7F76"/>
                </a:solidFill>
              </a:rPr>
              <a:t>0.154%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10CAC2-1992-440B-BB1C-9E38E8B6C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05777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6747E"/>
                </a:solidFill>
              </a:defRPr>
            </a:pPr>
            <a:r>
              <a:rPr sz="975" b="0">
                <a:solidFill>
                  <a:srgbClr val="66747E"/>
                </a:solidFill>
              </a:rPr>
              <a:t>physical flow closure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B324AA-5B06-4BA0-B5AE-3532424CD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4864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F2933"/>
                </a:solidFill>
              </a:defRPr>
            </a:pPr>
            <a:r>
              <a:rPr sz="1275" b="1">
                <a:solidFill>
                  <a:srgbClr val="1F2933"/>
                </a:solidFill>
              </a:rPr>
              <a:t>531 Pa inlet gauge pressure</a:t>
            </a:r>
          </a:p>
        </p:txBody>
      </p:sp>
    </p:spTree>
    <p:extLst>
      <p:ext uri="{BB962C8B-B14F-4D97-AF65-F5344CB8AC3E}">
        <p14:creationId xmlns:p14="http://schemas.microsoft.com/office/powerpoint/2010/main" val="170145971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CDFFF5F-FB75-445A-B295-C4C78E079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4325"/>
            <a:ext cx="1019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F2933"/>
                </a:solidFill>
              </a:defRPr>
            </a:pPr>
            <a:r>
              <a:rPr sz="2400" b="1">
                <a:solidFill>
                  <a:srgbClr val="1F2933"/>
                </a:solidFill>
              </a:rPr>
              <a:t>The validated Base solution is production-ready within the current study scope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5A4542-02C1-4324-8A66-715E48363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409575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2A7F76"/>
                </a:solidFill>
              </a:defRPr>
            </a:pPr>
            <a:r>
              <a:rPr sz="900" b="1">
                <a:solidFill>
                  <a:srgbClr val="2A7F76"/>
                </a:solidFill>
              </a:rPr>
              <a:t>VALIDATION &amp; SCOPE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2487E7-86F3-4553-8009-4E3A1CDD1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0965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7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9FCC23-C0CE-40E9-B6C7-E581E24A7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096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F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AC5769-235B-48F2-9CBB-203778EFF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48652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6747E"/>
                </a:solidFill>
              </a:defRPr>
            </a:pPr>
            <a:r>
              <a:rPr sz="825" b="0">
                <a:solidFill>
                  <a:srgbClr val="66747E"/>
                </a:solidFill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3D566E-6C0C-4042-9FCF-82D825EC1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62075"/>
            <a:ext cx="5295900" cy="3886200"/>
          </a:xfrm>
          <a:prstGeom xmlns:a="http://schemas.openxmlformats.org/drawingml/2006/main" prst="roundRect">
            <a:avLst>
              <a:gd name="adj" fmla="val 980"/>
            </a:avLst>
          </a:prstGeom>
          <a:solidFill xmlns:a="http://schemas.openxmlformats.org/drawingml/2006/main">
            <a:srgbClr val="EEF4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F94FD8-3BD5-4F6C-A9EC-F80A20646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192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A7F76"/>
                </a:solidFill>
              </a:defRPr>
            </a:pPr>
            <a:r>
              <a:rPr sz="1125" b="1">
                <a:solidFill>
                  <a:srgbClr val="2A7F76"/>
                </a:solidFill>
              </a:rPr>
              <a:t>VALIDATED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DE0C92-6744-4249-9768-2825F50F2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14550"/>
            <a:ext cx="1238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F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FDC0AB-06B8-40D3-9273-D3E325650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0574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F2933"/>
                </a:solidFill>
              </a:defRPr>
            </a:pPr>
            <a:r>
              <a:rPr sz="1200" b="1">
                <a:solidFill>
                  <a:srgbClr val="1F2933"/>
                </a:solidFill>
              </a:rPr>
              <a:t>Steady Base solution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F7A8FD-7A00-4D94-A55F-AD9C82C16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0574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47E"/>
                </a:solidFill>
              </a:defRPr>
            </a:pPr>
            <a:r>
              <a:rPr sz="1050" b="0">
                <a:solidFill>
                  <a:srgbClr val="66747E"/>
                </a:solidFill>
              </a:rPr>
              <a:t>Accepted at 598,755 iterations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667BB4-478D-4B91-B37A-C879C6539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95575"/>
            <a:ext cx="1238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F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3C3CAD-215B-4C7E-95CA-534F84BBA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638425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F2933"/>
                </a:solidFill>
              </a:defRPr>
            </a:pPr>
            <a:r>
              <a:rPr sz="1200" b="1">
                <a:solidFill>
                  <a:srgbClr val="1F2933"/>
                </a:solidFill>
              </a:rPr>
              <a:t>Physical flow closure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411AF7-8216-422C-ABA6-6EC3C3190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63842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47E"/>
                </a:solidFill>
              </a:defRPr>
            </a:pPr>
            <a:r>
              <a:rPr sz="1050" b="0">
                <a:solidFill>
                  <a:srgbClr val="66747E"/>
                </a:solidFill>
              </a:rPr>
              <a:t>0.154%  (&lt; 1%)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298A37-42FB-428B-BCCB-B3D41C12E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76600"/>
            <a:ext cx="1238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F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817958-1921-42BB-BDD0-78B7CBAAA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194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F2933"/>
                </a:solidFill>
              </a:defRPr>
            </a:pPr>
            <a:r>
              <a:rPr sz="1200" b="1">
                <a:solidFill>
                  <a:srgbClr val="1F2933"/>
                </a:solidFill>
              </a:rPr>
              <a:t>Full-timestep mass identity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2062DC-BDF7-479D-B2CB-D95BECB78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219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47E"/>
                </a:solidFill>
              </a:defRPr>
            </a:pPr>
            <a:r>
              <a:rPr sz="1050" b="0">
                <a:solidFill>
                  <a:srgbClr val="66747E"/>
                </a:solidFill>
              </a:rPr>
              <a:t>7.91e-10  (&lt; 1 × 10⁻⁸)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D1432D-8EDB-41FF-A9A9-F553EB5CD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57625"/>
            <a:ext cx="1238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F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F48511-5788-4AE2-A1F6-77603B91E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00475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F2933"/>
                </a:solidFill>
              </a:defRPr>
            </a:pPr>
            <a:r>
              <a:rPr sz="1200" b="1">
                <a:solidFill>
                  <a:srgbClr val="1F2933"/>
                </a:solidFill>
              </a:rPr>
              <a:t>Numerical safety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861D6CD-0C58-4127-87E7-942FA90EA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80047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47E"/>
                </a:solidFill>
              </a:defRPr>
            </a:pPr>
            <a:r>
              <a:rPr sz="1050" b="0">
                <a:solidFill>
                  <a:srgbClr val="66747E"/>
                </a:solidFill>
              </a:rPr>
              <a:t>Positive populations; low lattice speed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4229F2-1E54-4DEC-BEA9-76E6893E4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38650"/>
            <a:ext cx="1238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F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7EA9B5-7D02-4AFE-B64F-92021AFA8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3815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F2933"/>
                </a:solidFill>
              </a:defRPr>
            </a:pPr>
            <a:r>
              <a:rPr sz="1200" b="1">
                <a:solidFill>
                  <a:srgbClr val="1F2933"/>
                </a:solidFill>
              </a:rPr>
              <a:t>Resolution sensitivity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6A28B13-BC8A-460F-8A0D-885BFA560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3815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47E"/>
                </a:solidFill>
              </a:defRPr>
            </a:pPr>
            <a:r>
              <a:rPr sz="1050" b="0">
                <a:solidFill>
                  <a:srgbClr val="66747E"/>
                </a:solidFill>
              </a:rPr>
              <a:t>Coarse → Base max difference 1.45%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0540335-D110-4A54-9BDD-59AA011F6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362075"/>
            <a:ext cx="5486400" cy="3886200"/>
          </a:xfrm>
          <a:prstGeom xmlns:a="http://schemas.openxmlformats.org/drawingml/2006/main" prst="roundRect">
            <a:avLst>
              <a:gd name="adj" fmla="val 9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7D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48721D-0736-43B0-BF8F-9F72F89E0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192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63A5F"/>
                </a:solidFill>
              </a:defRPr>
            </a:pPr>
            <a:r>
              <a:rPr sz="1125" b="1">
                <a:solidFill>
                  <a:srgbClr val="163A5F"/>
                </a:solidFill>
              </a:rPr>
              <a:t>CURRENT SCOPE LIMITS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7696D39-B275-4C7E-A36D-4A59847AD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0574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7D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61713EA-A5A0-4A44-A929-0597131F8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18122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F2933"/>
                </a:solidFill>
              </a:defRPr>
            </a:pPr>
            <a:r>
              <a:rPr sz="1275" b="1">
                <a:solidFill>
                  <a:srgbClr val="1F2933"/>
                </a:solidFill>
              </a:rPr>
              <a:t>Three-grid convergence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77CE782-B0E5-49C4-B9C5-DCAE78F98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81225"/>
            <a:ext cx="29146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47E"/>
                </a:solidFill>
              </a:defRPr>
            </a:pPr>
            <a:r>
              <a:rPr sz="1125" b="0">
                <a:solidFill>
                  <a:srgbClr val="66747E"/>
                </a:solidFill>
              </a:rPr>
              <a:t>Richardson/GCI not completed under the compute budget.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4326A46-8D65-45BC-84AD-6F7A8F9CC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9527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7DD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9BD84D9-BBD3-4FF8-B48B-D3BE9B5AB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0765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F2933"/>
                </a:solidFill>
              </a:defRPr>
            </a:pPr>
            <a:r>
              <a:rPr sz="1275" b="1">
                <a:solidFill>
                  <a:srgbClr val="1F2933"/>
                </a:solidFill>
              </a:rPr>
              <a:t>Fine grid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3D37644-3759-4F71-B08A-D003F2375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76575"/>
            <a:ext cx="29146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47E"/>
                </a:solidFill>
              </a:defRPr>
            </a:pPr>
            <a:r>
              <a:rPr sz="1125" b="0">
                <a:solidFill>
                  <a:srgbClr val="66747E"/>
                </a:solidFill>
              </a:rPr>
              <a:t>Mesh, controller and 5,000-step safety passed; steady state not completed.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1C6F735-ED2C-4787-BD84-6D5D545B0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8481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7DD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56AAE55-B598-4C2C-BE21-5ECBB4349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97192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F2933"/>
                </a:solidFill>
              </a:defRPr>
            </a:pPr>
            <a:r>
              <a:rPr sz="1275" b="1">
                <a:solidFill>
                  <a:srgbClr val="1F2933"/>
                </a:solidFill>
              </a:rPr>
              <a:t>Wall shear stress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AE14441-5306-4DAA-B336-141803B08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971925"/>
            <a:ext cx="29146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47E"/>
                </a:solidFill>
              </a:defRPr>
            </a:pPr>
            <a:r>
              <a:rPr sz="1125" b="0">
                <a:solidFill>
                  <a:srgbClr val="66747E"/>
                </a:solidFill>
              </a:rPr>
              <a:t>Validation is deferred to a later production phase.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7F6D7D8-F1AD-4946-B743-E4F6B36DD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53075"/>
            <a:ext cx="11087100" cy="666750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163A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C60C101-A915-4F15-A9E4-BEF7F0CB2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057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The validated Base field is the production flow solution used for downstream analysis.</a:t>
            </a:r>
          </a:p>
        </p:txBody>
      </p:sp>
    </p:spTree>
    <p:extLst>
      <p:ext uri="{BB962C8B-B14F-4D97-AF65-F5344CB8AC3E}">
        <p14:creationId xmlns:p14="http://schemas.microsoft.com/office/powerpoint/2010/main" val="42966100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2026-09-03T09:58:45.2960000Z</dcterms:created>
  <dcterms:modified xsi:type="dcterms:W3CDTF">2026-09-03T09:58:45.2960000Z</dcterms:modified>
</coreProperties>
</file>